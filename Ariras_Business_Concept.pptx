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87" r:id="rId2"/>
    <p:sldId id="286" r:id="rId3"/>
    <p:sldId id="284" r:id="rId4"/>
    <p:sldId id="285" r:id="rId5"/>
    <p:sldId id="283" r:id="rId6"/>
    <p:sldId id="282" r:id="rId7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Cambria Math" panose="02040503050406030204" pitchFamily="18" charset="0"/>
      <p:regular r:id="rId10"/>
    </p:embeddedFont>
    <p:embeddedFont>
      <p:font typeface="DM Serif Display" pitchFamily="2" charset="0"/>
      <p:regular r:id="rId11"/>
      <p: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3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39" d="100"/>
          <a:sy n="39" d="100"/>
        </p:scale>
        <p:origin x="96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134AB-3D5A-44A7-8691-212BFB3C78F1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F6B47-0089-4B54-9E7D-B537D00106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90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F6B47-0089-4B54-9E7D-B537D001065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72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F6B47-0089-4B54-9E7D-B537D001065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62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9B60-0B61-1264-0DD4-108A3205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9A64745-B45B-6E39-8AF6-CB0E3C358462}"/>
              </a:ext>
            </a:extLst>
          </p:cNvPr>
          <p:cNvSpPr/>
          <p:nvPr/>
        </p:nvSpPr>
        <p:spPr>
          <a:xfrm>
            <a:off x="9296403" y="2001212"/>
            <a:ext cx="8669052" cy="6284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5E6B3DE2-9D69-55D5-1AC5-0741945CA8AE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29D42-6B06-3A44-FE55-71F9B9675299}"/>
              </a:ext>
            </a:extLst>
          </p:cNvPr>
          <p:cNvSpPr txBox="1"/>
          <p:nvPr/>
        </p:nvSpPr>
        <p:spPr>
          <a:xfrm>
            <a:off x="-2286000" y="175593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6FFA1-C28D-7C6E-D2D2-97B915BB9015}"/>
              </a:ext>
            </a:extLst>
          </p:cNvPr>
          <p:cNvSpPr txBox="1"/>
          <p:nvPr/>
        </p:nvSpPr>
        <p:spPr>
          <a:xfrm>
            <a:off x="646219" y="1383989"/>
            <a:ext cx="93379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i="0" dirty="0">
                <a:effectLst/>
                <a:latin typeface="DM Serif Display" panose="020F0502020204030204" pitchFamily="2" charset="0"/>
              </a:rPr>
              <a:t>Compliance is broken.</a:t>
            </a:r>
            <a:br>
              <a:rPr lang="en-US" sz="4000" dirty="0"/>
            </a:br>
            <a:r>
              <a:rPr lang="en-US" sz="4000" b="0" i="0" dirty="0">
                <a:solidFill>
                  <a:srgbClr val="7030A0"/>
                </a:solidFill>
                <a:effectLst/>
                <a:latin typeface="DM Serif Display" panose="020F0502020204030204" pitchFamily="2" charset="0"/>
              </a:rPr>
              <a:t>And getting worse.</a:t>
            </a:r>
            <a:endParaRPr lang="en-IN" sz="4000" dirty="0">
              <a:solidFill>
                <a:srgbClr val="7030A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9756F2-5A56-D575-2B6D-D86CCF8F608F}"/>
              </a:ext>
            </a:extLst>
          </p:cNvPr>
          <p:cNvSpPr txBox="1"/>
          <p:nvPr/>
        </p:nvSpPr>
        <p:spPr>
          <a:xfrm>
            <a:off x="1959032" y="3247422"/>
            <a:ext cx="6639099" cy="669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2800" b="1" i="0" dirty="0">
                <a:effectLst/>
                <a:latin typeface="+mj-lt"/>
              </a:rPr>
              <a:t>Months of manual work</a:t>
            </a:r>
          </a:p>
          <a:p>
            <a:pPr algn="l">
              <a:buNone/>
            </a:pPr>
            <a:r>
              <a:rPr lang="en-US" sz="2400" b="0" i="0" dirty="0">
                <a:effectLst/>
                <a:latin typeface="+mj-lt"/>
              </a:rPr>
              <a:t>Legal teams spend 3 - 6 months reading, mapping, and cross-referencing regulation documents to produce gap reports. Every update restarts the clock.</a:t>
            </a:r>
          </a:p>
          <a:p>
            <a:pPr algn="l">
              <a:buNone/>
            </a:pPr>
            <a:endParaRPr lang="en-US" sz="2400" b="0" i="0" dirty="0">
              <a:effectLst/>
              <a:latin typeface="+mj-lt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2800" b="1" i="0" dirty="0">
                <a:effectLst/>
                <a:latin typeface="+mj-lt"/>
              </a:rPr>
              <a:t>Prohibitively expensive</a:t>
            </a:r>
          </a:p>
          <a:p>
            <a:pPr algn="l">
              <a:buNone/>
            </a:pPr>
            <a:r>
              <a:rPr lang="en-US" sz="2400" b="0" i="0" dirty="0">
                <a:effectLst/>
                <a:latin typeface="+mj-lt"/>
              </a:rPr>
              <a:t>Big-4 compliance consulting runs ₹15 - 50L per engagement. Mid-market and startup companies simply can't afford it - leaving them dangerously exposed.</a:t>
            </a:r>
          </a:p>
          <a:p>
            <a:pPr algn="l">
              <a:spcBef>
                <a:spcPts val="150"/>
              </a:spcBef>
              <a:buNone/>
            </a:pPr>
            <a:endParaRPr lang="en-US" sz="2400" b="0" i="0" dirty="0">
              <a:effectLst/>
              <a:latin typeface="+mj-lt"/>
            </a:endParaRPr>
          </a:p>
          <a:p>
            <a:pPr algn="l">
              <a:spcAft>
                <a:spcPts val="300"/>
              </a:spcAft>
              <a:buNone/>
            </a:pPr>
            <a:r>
              <a:rPr lang="en-US" sz="2800" b="1" i="0" dirty="0">
                <a:effectLst/>
                <a:latin typeface="+mj-lt"/>
              </a:rPr>
              <a:t>Jurisdiction complexity</a:t>
            </a:r>
          </a:p>
          <a:p>
            <a:pPr algn="l">
              <a:buNone/>
            </a:pPr>
            <a:r>
              <a:rPr lang="en-US" sz="2400" b="0" i="0" dirty="0">
                <a:effectLst/>
                <a:latin typeface="+mj-lt"/>
              </a:rPr>
              <a:t>A company operating in India, the EU, and the US faces DPDP Act, GDPR, CCPA, SEBI, RBI, and sector-specific rules - each with overlapping and conflicting obligations.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6DC1FF-76EC-2DC0-5311-D7EDCDD13653}"/>
                  </a:ext>
                </a:extLst>
              </p:cNvPr>
              <p:cNvSpPr txBox="1"/>
              <p:nvPr/>
            </p:nvSpPr>
            <p:spPr>
              <a:xfrm>
                <a:off x="9522105" y="3375638"/>
                <a:ext cx="8332168" cy="4655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2E2E38"/>
                    </a:solidFill>
                    <a:latin typeface="+mj-lt"/>
                  </a:rPr>
                  <a:t>Nearly</a:t>
                </a:r>
                <a:r>
                  <a:rPr lang="en-US" sz="2800" dirty="0">
                    <a:solidFill>
                      <a:srgbClr val="2E2E38"/>
                    </a:solidFill>
                    <a:latin typeface="+mj-lt"/>
                  </a:rPr>
                  <a:t> </a:t>
                </a:r>
                <a:r>
                  <a:rPr lang="en-US" sz="4000" b="1" dirty="0">
                    <a:solidFill>
                      <a:srgbClr val="2E2E38"/>
                    </a:solidFill>
                    <a:latin typeface="+mj-lt"/>
                  </a:rPr>
                  <a:t>81% </a:t>
                </a:r>
                <a:r>
                  <a:rPr lang="en-US" sz="2400" dirty="0">
                    <a:solidFill>
                      <a:srgbClr val="2E2E38"/>
                    </a:solidFill>
                    <a:latin typeface="+mj-lt"/>
                  </a:rPr>
                  <a:t>Indian Enterprises have not updated or drafted DPDP‑aligned privacy policies or governance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framworks</m:t>
                        </m:r>
                      </m:e>
                      <m:sup>
                        <m:r>
                          <a:rPr lang="en-US" sz="240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2E2E38"/>
                    </a:solidFill>
                    <a:latin typeface="+mj-lt"/>
                  </a:rPr>
                  <a:t> because </a:t>
                </a:r>
                <a:r>
                  <a:rPr lang="en-US" sz="4000" b="1" dirty="0">
                    <a:solidFill>
                      <a:srgbClr val="2E2E38"/>
                    </a:solidFill>
                    <a:latin typeface="+mj-lt"/>
                  </a:rPr>
                  <a:t>71% </a:t>
                </a:r>
                <a:r>
                  <a:rPr lang="en-US" sz="2400" dirty="0">
                    <a:latin typeface="+mj-lt"/>
                  </a:rPr>
                  <a:t>simply cannot interpret what the Act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requires</m:t>
                        </m:r>
                      </m:e>
                      <m:sup>
                        <m:r>
                          <a:rPr lang="en-US" sz="2400">
                            <a:solidFill>
                              <a:srgbClr val="2E2E3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rgbClr val="2E2E38"/>
                  </a:solidFill>
                  <a:latin typeface="+mj-lt"/>
                </a:endParaRPr>
              </a:p>
              <a:p>
                <a:endParaRPr lang="en-US" sz="2400" b="1" dirty="0">
                  <a:latin typeface="+mj-lt"/>
                </a:endParaRPr>
              </a:p>
              <a:p>
                <a:r>
                  <a:rPr lang="en-US" sz="2400" b="1" dirty="0">
                    <a:latin typeface="+mj-lt"/>
                  </a:rPr>
                  <a:t>And the deadline? </a:t>
                </a:r>
              </a:p>
              <a:p>
                <a:r>
                  <a:rPr lang="en-US" sz="2400" b="1" dirty="0">
                    <a:latin typeface="+mj-lt"/>
                  </a:rPr>
                  <a:t>May 2027</a:t>
                </a:r>
              </a:p>
              <a:p>
                <a:endParaRPr lang="en-US" sz="2400" b="1" dirty="0">
                  <a:latin typeface="+mj-lt"/>
                </a:endParaRPr>
              </a:p>
              <a:p>
                <a:r>
                  <a:rPr lang="en-US" sz="2400" b="1" dirty="0">
                    <a:latin typeface="+mj-lt"/>
                  </a:rPr>
                  <a:t>That's 14 months away. </a:t>
                </a:r>
              </a:p>
              <a:p>
                <a:endParaRPr lang="en-US" sz="2400" b="1" dirty="0">
                  <a:latin typeface="+mj-lt"/>
                </a:endParaRPr>
              </a:p>
              <a:p>
                <a:r>
                  <a:rPr lang="en-US" sz="2400" b="1" dirty="0">
                    <a:latin typeface="+mj-lt"/>
                  </a:rPr>
                  <a:t>The fines?</a:t>
                </a:r>
              </a:p>
              <a:p>
                <a:r>
                  <a:rPr lang="en-US" sz="2400" b="1" dirty="0">
                    <a:latin typeface="+mj-lt"/>
                  </a:rPr>
                  <a:t> Up to ₹250 crore per violation.</a:t>
                </a:r>
                <a:endParaRPr lang="en-IN" sz="2400" b="1" dirty="0"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6DC1FF-76EC-2DC0-5311-D7EDCDD13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105" y="3375638"/>
                <a:ext cx="8332168" cy="4655762"/>
              </a:xfrm>
              <a:prstGeom prst="rect">
                <a:avLst/>
              </a:prstGeom>
              <a:blipFill>
                <a:blip r:embed="rId3"/>
                <a:stretch>
                  <a:fillRect l="-1097" t="-2359" b="-19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19A5191-6493-B735-BD05-285AE9175442}"/>
              </a:ext>
            </a:extLst>
          </p:cNvPr>
          <p:cNvSpPr txBox="1"/>
          <p:nvPr/>
        </p:nvSpPr>
        <p:spPr>
          <a:xfrm>
            <a:off x="9597994" y="7632929"/>
            <a:ext cx="7158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1325B9-81EF-474E-040E-CCF3AC6AE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19" y="3731478"/>
            <a:ext cx="1143000" cy="100602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7E22B39-5037-6BBD-E080-010F8D33D22E}"/>
              </a:ext>
            </a:extLst>
          </p:cNvPr>
          <p:cNvSpPr/>
          <p:nvPr/>
        </p:nvSpPr>
        <p:spPr>
          <a:xfrm>
            <a:off x="288078" y="3098900"/>
            <a:ext cx="8703521" cy="219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688B0-67C0-EA00-EADB-1EBE556781E7}"/>
              </a:ext>
            </a:extLst>
          </p:cNvPr>
          <p:cNvSpPr/>
          <p:nvPr/>
        </p:nvSpPr>
        <p:spPr>
          <a:xfrm>
            <a:off x="288078" y="5497276"/>
            <a:ext cx="8703521" cy="219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A6DCCC-B6D8-88AB-5D9B-C75519C1F5F4}"/>
              </a:ext>
            </a:extLst>
          </p:cNvPr>
          <p:cNvSpPr/>
          <p:nvPr/>
        </p:nvSpPr>
        <p:spPr>
          <a:xfrm>
            <a:off x="288078" y="7895652"/>
            <a:ext cx="8703521" cy="219699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Expensive Price Tag Icon Clipart Image">
            <a:extLst>
              <a:ext uri="{FF2B5EF4-FFF2-40B4-BE49-F238E27FC236}">
                <a16:creationId xmlns:a16="http://schemas.microsoft.com/office/drawing/2014/main" id="{5754D992-1691-BAD3-446E-9FDB0B675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82" y="5783023"/>
            <a:ext cx="1543050" cy="162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urisdiction line illustration | Premium Vector">
            <a:extLst>
              <a:ext uri="{FF2B5EF4-FFF2-40B4-BE49-F238E27FC236}">
                <a16:creationId xmlns:a16="http://schemas.microsoft.com/office/drawing/2014/main" id="{59CED4FA-30DF-0345-5832-8805AAC26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82" y="8115300"/>
            <a:ext cx="145732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32A1180-56DB-5B48-60B2-3F93454AB30D}"/>
              </a:ext>
            </a:extLst>
          </p:cNvPr>
          <p:cNvSpPr/>
          <p:nvPr/>
        </p:nvSpPr>
        <p:spPr>
          <a:xfrm>
            <a:off x="292926" y="1409700"/>
            <a:ext cx="228600" cy="131204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B4B8B4-3013-56C3-7375-E15F41C3166F}"/>
              </a:ext>
            </a:extLst>
          </p:cNvPr>
          <p:cNvSpPr txBox="1"/>
          <p:nvPr/>
        </p:nvSpPr>
        <p:spPr>
          <a:xfrm>
            <a:off x="9597994" y="9069169"/>
            <a:ext cx="8669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EY</a:t>
            </a:r>
            <a:r>
              <a:rPr lang="en-IN" dirty="0"/>
              <a:t> </a:t>
            </a:r>
            <a:r>
              <a:rPr lang="en-IN" i="1" dirty="0"/>
              <a:t>(https://www.ey.com/en_in/insights/cybersecurity/india-s-data-privacy-shift-steering-the-dpdp-compliance-and-readiness)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81406D-B32F-58F4-1045-4E08A4BD80D1}"/>
              </a:ext>
            </a:extLst>
          </p:cNvPr>
          <p:cNvSpPr/>
          <p:nvPr/>
        </p:nvSpPr>
        <p:spPr>
          <a:xfrm>
            <a:off x="9507255" y="2153612"/>
            <a:ext cx="8305800" cy="6062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Let’s take a real-life example 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5269C6-7074-78BF-4192-8BF13C5DE175}"/>
              </a:ext>
            </a:extLst>
          </p:cNvPr>
          <p:cNvSpPr txBox="1"/>
          <p:nvPr/>
        </p:nvSpPr>
        <p:spPr>
          <a:xfrm>
            <a:off x="9507255" y="2852418"/>
            <a:ext cx="102904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7030A0"/>
                </a:solidFill>
                <a:effectLst/>
                <a:latin typeface="+mj-lt"/>
              </a:rPr>
              <a:t>The Digital Personal Data Protection (DPDP) Act, 2023</a:t>
            </a:r>
            <a:endParaRPr lang="en-IN" sz="2800" b="1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B5909-4D68-3520-75A5-54532EBB1B8F}"/>
              </a:ext>
            </a:extLst>
          </p:cNvPr>
          <p:cNvSpPr txBox="1"/>
          <p:nvPr/>
        </p:nvSpPr>
        <p:spPr>
          <a:xfrm>
            <a:off x="7010400" y="9751299"/>
            <a:ext cx="7010400" cy="36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by Team Token Burners  - Harreet &amp; Pragun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286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BEE4-72EC-CAD7-F096-7F6AB580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F7C5149E-A941-B320-3F6F-5845527D8BBD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0A4D7-6EB4-5B74-02FC-07E2013D89D3}"/>
              </a:ext>
            </a:extLst>
          </p:cNvPr>
          <p:cNvSpPr txBox="1"/>
          <p:nvPr/>
        </p:nvSpPr>
        <p:spPr>
          <a:xfrm>
            <a:off x="-1066800" y="171463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PROBLEM BY USE CASE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A85B87-40C9-DC0B-0E5A-EDD023A55EEE}"/>
              </a:ext>
            </a:extLst>
          </p:cNvPr>
          <p:cNvSpPr txBox="1"/>
          <p:nvPr/>
        </p:nvSpPr>
        <p:spPr>
          <a:xfrm>
            <a:off x="474389" y="8343899"/>
            <a:ext cx="1747833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We created </a:t>
            </a:r>
            <a:r>
              <a:rPr lang="en-US" sz="2800" b="1" dirty="0">
                <a:solidFill>
                  <a:srgbClr val="C00000"/>
                </a:solidFill>
              </a:rPr>
              <a:t>ARIRAS (AI Regulatory Intelligence &amp; Reporting Assurance System)  </a:t>
            </a:r>
            <a:endParaRPr lang="en-US" sz="2800" b="1" dirty="0"/>
          </a:p>
          <a:p>
            <a:r>
              <a:rPr lang="en-US" sz="2800" dirty="0"/>
              <a:t>- </a:t>
            </a:r>
            <a:r>
              <a:rPr lang="en-US" sz="2800" b="1" dirty="0"/>
              <a:t>A system that understands regulations → maps them to company processes/ if policy document doesn’t exist, then helps give a guideline document → detects reporting gaps → fixes them proactively.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84CDF-0468-6569-6564-31DCF7C23E73}"/>
              </a:ext>
            </a:extLst>
          </p:cNvPr>
          <p:cNvSpPr/>
          <p:nvPr/>
        </p:nvSpPr>
        <p:spPr>
          <a:xfrm>
            <a:off x="3276600" y="1562100"/>
            <a:ext cx="13355522" cy="6400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3200" b="1" dirty="0"/>
              <a:t>Meet Syesha,</a:t>
            </a:r>
          </a:p>
          <a:p>
            <a:pPr>
              <a:buNone/>
            </a:pPr>
            <a:endParaRPr lang="en-US" sz="3200" b="1" dirty="0"/>
          </a:p>
          <a:p>
            <a:pPr>
              <a:buNone/>
            </a:pPr>
            <a:r>
              <a:rPr lang="en-US" sz="3200" dirty="0"/>
              <a:t>She's the compliance head at Paytm - an Indian fintech. She has a 21-page DPDP Act PDF, a 50-page company policy document, and a team of 3 people trying to figure out: 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dirty="0"/>
              <a:t>-  Are we compliant? </a:t>
            </a:r>
          </a:p>
          <a:p>
            <a:pPr>
              <a:buNone/>
            </a:pPr>
            <a:r>
              <a:rPr lang="en-US" sz="3200" dirty="0"/>
              <a:t>- What are we missing?</a:t>
            </a:r>
          </a:p>
          <a:p>
            <a:r>
              <a:rPr lang="en-US" sz="3200" dirty="0"/>
              <a:t>- What happens if we're not?</a:t>
            </a:r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>
              <a:buNone/>
            </a:pPr>
            <a:r>
              <a:rPr lang="en-US" sz="3200" dirty="0"/>
              <a:t>She spends 3 weeks. Pays ₹2 lakh in consulting fees. And still isn't sure.</a:t>
            </a:r>
          </a:p>
        </p:txBody>
      </p:sp>
      <p:pic>
        <p:nvPicPr>
          <p:cNvPr id="5122" name="Picture 2" descr="Smiling Girl, Woman, Businesswoman on Strike, Empty Board in Hand Stock  Vector - Illustration of corporate, concept: 96284475">
            <a:extLst>
              <a:ext uri="{FF2B5EF4-FFF2-40B4-BE49-F238E27FC236}">
                <a16:creationId xmlns:a16="http://schemas.microsoft.com/office/drawing/2014/main" id="{ED45B6AF-065F-4876-B128-E3C014D6F7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875" b="88875" l="33000" r="58125">
                        <a14:foregroundMark x1="45125" y1="38125" x2="45125" y2="38125"/>
                        <a14:foregroundMark x1="45125" y1="38125" x2="45000" y2="28000"/>
                        <a14:foregroundMark x1="43125" y1="37375" x2="44250" y2="28500"/>
                        <a14:foregroundMark x1="44250" y1="28500" x2="44875" y2="24875"/>
                        <a14:foregroundMark x1="44875" y1="24875" x2="45625" y2="25625"/>
                        <a14:foregroundMark x1="38125" y1="52875" x2="33000" y2="48250"/>
                        <a14:foregroundMark x1="55625" y1="40000" x2="58000" y2="33875"/>
                        <a14:foregroundMark x1="44625" y1="64750" x2="41500" y2="61500"/>
                        <a14:foregroundMark x1="41500" y1="61500" x2="40000" y2="71625"/>
                        <a14:foregroundMark x1="40000" y1="71625" x2="40875" y2="79500"/>
                        <a14:foregroundMark x1="45750" y1="77000" x2="48625" y2="86875"/>
                        <a14:foregroundMark x1="43000" y1="88875" x2="43125" y2="86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249" t="23000" r="38751" b="18614"/>
          <a:stretch>
            <a:fillRect/>
          </a:stretch>
        </p:blipFill>
        <p:spPr bwMode="auto">
          <a:xfrm>
            <a:off x="304800" y="1501140"/>
            <a:ext cx="3320230" cy="646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9779D2-FCE4-B34F-E02F-1FC0E459CC3D}"/>
              </a:ext>
            </a:extLst>
          </p:cNvPr>
          <p:cNvSpPr txBox="1"/>
          <p:nvPr/>
        </p:nvSpPr>
        <p:spPr>
          <a:xfrm>
            <a:off x="7010400" y="9751299"/>
            <a:ext cx="7010400" cy="36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by Team Token Burners  - Harreet &amp; Pragun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839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A566-9C9C-0D56-693C-7DB1BCC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7440C92-C7A0-9FF4-FDE4-C41E25152B5F}"/>
              </a:ext>
            </a:extLst>
          </p:cNvPr>
          <p:cNvSpPr/>
          <p:nvPr/>
        </p:nvSpPr>
        <p:spPr>
          <a:xfrm>
            <a:off x="312830" y="1838910"/>
            <a:ext cx="17678400" cy="4010448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FDBDE74-0219-29AE-68D4-7D5B39231100}"/>
              </a:ext>
            </a:extLst>
          </p:cNvPr>
          <p:cNvSpPr/>
          <p:nvPr/>
        </p:nvSpPr>
        <p:spPr>
          <a:xfrm>
            <a:off x="304800" y="6019359"/>
            <a:ext cx="17670370" cy="4067259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87D07D23-93A1-698F-56C2-0DE6DA08155B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A8502-2641-5EF6-BB86-E899E7A81ABA}"/>
              </a:ext>
            </a:extLst>
          </p:cNvPr>
          <p:cNvSpPr txBox="1"/>
          <p:nvPr/>
        </p:nvSpPr>
        <p:spPr>
          <a:xfrm>
            <a:off x="-381000" y="178749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9589F-82AE-DE15-08D9-C1AEC9F51D4C}"/>
              </a:ext>
            </a:extLst>
          </p:cNvPr>
          <p:cNvSpPr txBox="1"/>
          <p:nvPr/>
        </p:nvSpPr>
        <p:spPr>
          <a:xfrm>
            <a:off x="304800" y="1333500"/>
            <a:ext cx="13639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takes consulting firms weeks, ARIRAS does in hours - not by replacing expertise, but by scaling it. Let’s see how!</a:t>
            </a:r>
            <a:endParaRPr lang="en-IN" sz="2000" b="1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E4AB5A8F-25B9-0859-40F3-EAA7D54AB194}"/>
              </a:ext>
            </a:extLst>
          </p:cNvPr>
          <p:cNvSpPr/>
          <p:nvPr/>
        </p:nvSpPr>
        <p:spPr>
          <a:xfrm>
            <a:off x="304800" y="1837243"/>
            <a:ext cx="5410200" cy="552509"/>
          </a:xfrm>
          <a:custGeom>
            <a:avLst/>
            <a:gdLst/>
            <a:ahLst/>
            <a:cxnLst/>
            <a:rect l="l" t="t" r="r" b="b"/>
            <a:pathLst>
              <a:path w="812800" h="315619">
                <a:moveTo>
                  <a:pt x="0" y="0"/>
                </a:moveTo>
                <a:lnTo>
                  <a:pt x="812800" y="0"/>
                </a:lnTo>
                <a:lnTo>
                  <a:pt x="812800" y="315619"/>
                </a:lnTo>
                <a:lnTo>
                  <a:pt x="0" y="315619"/>
                </a:lnTo>
                <a:close/>
              </a:path>
            </a:pathLst>
          </a:custGeom>
          <a:gradFill rotWithShape="1">
            <a:gsLst>
              <a:gs pos="0">
                <a:srgbClr val="365E93">
                  <a:alpha val="13000"/>
                </a:srgbClr>
              </a:gs>
              <a:gs pos="100000">
                <a:srgbClr val="AF2BA5">
                  <a:alpha val="56000"/>
                </a:srgbClr>
              </a:gs>
            </a:gsLst>
            <a:lin ang="0"/>
          </a:gradFill>
        </p:spPr>
        <p:txBody>
          <a:bodyPr/>
          <a:lstStyle/>
          <a:p>
            <a:pPr algn="ctr"/>
            <a:r>
              <a:rPr lang="en-IN" sz="2400" b="1" dirty="0"/>
              <a:t>Traditional Compliance Mapping Process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8F9ABA18-3C6E-6488-EF47-E3681501260B}"/>
              </a:ext>
            </a:extLst>
          </p:cNvPr>
          <p:cNvSpPr txBox="1"/>
          <p:nvPr/>
        </p:nvSpPr>
        <p:spPr>
          <a:xfrm>
            <a:off x="304800" y="1770547"/>
            <a:ext cx="5410200" cy="61920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3132" name="Rectangle: Rounded Corners 3131">
            <a:extLst>
              <a:ext uri="{FF2B5EF4-FFF2-40B4-BE49-F238E27FC236}">
                <a16:creationId xmlns:a16="http://schemas.microsoft.com/office/drawing/2014/main" id="{EF2F314D-2F1A-9846-8E8C-E0DB349C5BEC}"/>
              </a:ext>
            </a:extLst>
          </p:cNvPr>
          <p:cNvSpPr/>
          <p:nvPr/>
        </p:nvSpPr>
        <p:spPr>
          <a:xfrm>
            <a:off x="2461371" y="7574497"/>
            <a:ext cx="1925782" cy="1113004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Freeform 13">
            <a:extLst>
              <a:ext uri="{FF2B5EF4-FFF2-40B4-BE49-F238E27FC236}">
                <a16:creationId xmlns:a16="http://schemas.microsoft.com/office/drawing/2014/main" id="{9768436D-5EBC-927B-4B2C-041CE9A2DF3C}"/>
              </a:ext>
            </a:extLst>
          </p:cNvPr>
          <p:cNvSpPr/>
          <p:nvPr/>
        </p:nvSpPr>
        <p:spPr>
          <a:xfrm>
            <a:off x="369994" y="6060515"/>
            <a:ext cx="5410200" cy="552509"/>
          </a:xfrm>
          <a:custGeom>
            <a:avLst/>
            <a:gdLst/>
            <a:ahLst/>
            <a:cxnLst/>
            <a:rect l="l" t="t" r="r" b="b"/>
            <a:pathLst>
              <a:path w="812800" h="315619">
                <a:moveTo>
                  <a:pt x="0" y="0"/>
                </a:moveTo>
                <a:lnTo>
                  <a:pt x="812800" y="0"/>
                </a:lnTo>
                <a:lnTo>
                  <a:pt x="812800" y="315619"/>
                </a:lnTo>
                <a:lnTo>
                  <a:pt x="0" y="315619"/>
                </a:lnTo>
                <a:close/>
              </a:path>
            </a:pathLst>
          </a:custGeom>
          <a:gradFill rotWithShape="1">
            <a:gsLst>
              <a:gs pos="0">
                <a:srgbClr val="365E93">
                  <a:alpha val="13000"/>
                </a:srgbClr>
              </a:gs>
              <a:gs pos="100000">
                <a:srgbClr val="AF2BA5">
                  <a:alpha val="56000"/>
                </a:srgbClr>
              </a:gs>
            </a:gsLst>
            <a:lin ang="0"/>
          </a:gradFill>
        </p:spPr>
        <p:txBody>
          <a:bodyPr/>
          <a:lstStyle/>
          <a:p>
            <a:pPr algn="ctr"/>
            <a:r>
              <a:rPr lang="en-IN" sz="2400" b="1" dirty="0"/>
              <a:t>Post ARIRAS - AI Native Model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1C44AA-D5F9-97DF-8EE9-073CD3412B5B}"/>
              </a:ext>
            </a:extLst>
          </p:cNvPr>
          <p:cNvCxnSpPr/>
          <p:nvPr/>
        </p:nvCxnSpPr>
        <p:spPr>
          <a:xfrm>
            <a:off x="4467831" y="3874672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8DE9504-B186-2361-D2CD-575F36FF32BF}"/>
              </a:ext>
            </a:extLst>
          </p:cNvPr>
          <p:cNvSpPr txBox="1"/>
          <p:nvPr/>
        </p:nvSpPr>
        <p:spPr>
          <a:xfrm>
            <a:off x="2494145" y="3126173"/>
            <a:ext cx="1877511" cy="467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Regulatory Discovery</a:t>
            </a:r>
            <a:endParaRPr lang="en-IN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DADB9AF-96C5-8014-B543-4481A6050C17}"/>
              </a:ext>
            </a:extLst>
          </p:cNvPr>
          <p:cNvSpPr/>
          <p:nvPr/>
        </p:nvSpPr>
        <p:spPr>
          <a:xfrm>
            <a:off x="2445873" y="3301745"/>
            <a:ext cx="1925782" cy="1113004"/>
          </a:xfrm>
          <a:prstGeom prst="roundRect">
            <a:avLst>
              <a:gd name="adj" fmla="val 0"/>
            </a:avLst>
          </a:prstGeom>
          <a:noFill/>
          <a:ln w="3175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ED10EE-1649-9E9A-F366-2487D514BC7D}"/>
              </a:ext>
            </a:extLst>
          </p:cNvPr>
          <p:cNvSpPr txBox="1"/>
          <p:nvPr/>
        </p:nvSpPr>
        <p:spPr>
          <a:xfrm>
            <a:off x="1895157" y="3231473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📂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980CD8E-B748-093E-C88D-CBFF7D3DD1DA}"/>
              </a:ext>
            </a:extLst>
          </p:cNvPr>
          <p:cNvSpPr txBox="1"/>
          <p:nvPr/>
        </p:nvSpPr>
        <p:spPr>
          <a:xfrm>
            <a:off x="2618025" y="3615724"/>
            <a:ext cx="19257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Manual research / consultants identify applicable laws</a:t>
            </a:r>
            <a:endParaRPr lang="en-IN" sz="14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2B99D4C-8004-DF85-909C-B52F7CC9A46A}"/>
              </a:ext>
            </a:extLst>
          </p:cNvPr>
          <p:cNvGrpSpPr/>
          <p:nvPr/>
        </p:nvGrpSpPr>
        <p:grpSpPr>
          <a:xfrm>
            <a:off x="4995506" y="3143238"/>
            <a:ext cx="1925782" cy="1303342"/>
            <a:chOff x="420829" y="2924012"/>
            <a:chExt cx="2003715" cy="1457489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F0692AA-68D2-9B23-D6DE-82927FFFD613}"/>
                </a:ext>
              </a:extLst>
            </p:cNvPr>
            <p:cNvSpPr txBox="1"/>
            <p:nvPr/>
          </p:nvSpPr>
          <p:spPr>
            <a:xfrm>
              <a:off x="471054" y="2924012"/>
              <a:ext cx="1953490" cy="585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pPr algn="ctr"/>
              <a:r>
                <a:rPr lang="en-IN" sz="1400" b="1" dirty="0"/>
                <a:t>Regulatory Inventory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48898C0D-7633-A1D4-FE02-AF1A7FA79587}"/>
                </a:ext>
              </a:extLst>
            </p:cNvPr>
            <p:cNvSpPr/>
            <p:nvPr/>
          </p:nvSpPr>
          <p:spPr>
            <a:xfrm>
              <a:off x="420829" y="3136861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6F4D919-6826-3831-2A47-D35776C7A6F3}"/>
              </a:ext>
            </a:extLst>
          </p:cNvPr>
          <p:cNvSpPr txBox="1"/>
          <p:nvPr/>
        </p:nvSpPr>
        <p:spPr>
          <a:xfrm>
            <a:off x="4444790" y="3263303"/>
            <a:ext cx="114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🧾</a:t>
            </a:r>
          </a:p>
          <a:p>
            <a:pPr algn="ctr"/>
            <a:r>
              <a:rPr lang="en-IN" sz="2400" dirty="0"/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D3CFCF-947E-E8EF-CCF4-4CEF59E4B69D}"/>
              </a:ext>
            </a:extLst>
          </p:cNvPr>
          <p:cNvSpPr txBox="1"/>
          <p:nvPr/>
        </p:nvSpPr>
        <p:spPr>
          <a:xfrm>
            <a:off x="4980500" y="3743552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Built manually in Excel &amp; Consulting Frameworks</a:t>
            </a:r>
            <a:endParaRPr lang="en-IN" sz="140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2C7C00D-D4E8-51DC-8D43-F1059D954E86}"/>
              </a:ext>
            </a:extLst>
          </p:cNvPr>
          <p:cNvGrpSpPr/>
          <p:nvPr/>
        </p:nvGrpSpPr>
        <p:grpSpPr>
          <a:xfrm>
            <a:off x="7558478" y="3128117"/>
            <a:ext cx="2017832" cy="1247118"/>
            <a:chOff x="325054" y="2924012"/>
            <a:chExt cx="2099490" cy="14574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911298-4410-1907-EB2A-3AB0AE43CD65}"/>
                </a:ext>
              </a:extLst>
            </p:cNvPr>
            <p:cNvSpPr txBox="1"/>
            <p:nvPr/>
          </p:nvSpPr>
          <p:spPr>
            <a:xfrm>
              <a:off x="325054" y="2924012"/>
              <a:ext cx="1953490" cy="61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pPr algn="ctr"/>
              <a:r>
                <a:rPr lang="en-IN" sz="1400" b="1" dirty="0"/>
                <a:t>Policy Creation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8F177748-AB28-5ADB-E676-E7D72047DDED}"/>
                </a:ext>
              </a:extLst>
            </p:cNvPr>
            <p:cNvSpPr/>
            <p:nvPr/>
          </p:nvSpPr>
          <p:spPr>
            <a:xfrm>
              <a:off x="420829" y="3136863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0A4EAC1-08A8-13E0-EF74-07DD6E9698C3}"/>
              </a:ext>
            </a:extLst>
          </p:cNvPr>
          <p:cNvSpPr txBox="1"/>
          <p:nvPr/>
        </p:nvSpPr>
        <p:spPr>
          <a:xfrm>
            <a:off x="7099812" y="3243004"/>
            <a:ext cx="114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📊</a:t>
            </a:r>
          </a:p>
          <a:p>
            <a:pPr algn="ctr"/>
            <a:r>
              <a:rPr lang="en-IN" sz="2400" dirty="0"/>
              <a:t>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27DB11-F8BE-ADD2-DF31-05F7A8D021D2}"/>
              </a:ext>
            </a:extLst>
          </p:cNvPr>
          <p:cNvSpPr txBox="1"/>
          <p:nvPr/>
        </p:nvSpPr>
        <p:spPr>
          <a:xfrm>
            <a:off x="10225783" y="3647339"/>
            <a:ext cx="1964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Audit exercise – a lot of manual effort to manually find gaps. 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E8B2406-1D6A-C8B3-242A-558002868315}"/>
              </a:ext>
            </a:extLst>
          </p:cNvPr>
          <p:cNvGrpSpPr/>
          <p:nvPr/>
        </p:nvGrpSpPr>
        <p:grpSpPr>
          <a:xfrm>
            <a:off x="7625665" y="1964161"/>
            <a:ext cx="1925782" cy="1247118"/>
            <a:chOff x="420829" y="2924012"/>
            <a:chExt cx="2003715" cy="145749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CEDA593-E8E2-2D57-EB01-5775001266C2}"/>
                </a:ext>
              </a:extLst>
            </p:cNvPr>
            <p:cNvSpPr txBox="1"/>
            <p:nvPr/>
          </p:nvSpPr>
          <p:spPr>
            <a:xfrm>
              <a:off x="471054" y="2924012"/>
              <a:ext cx="1953490" cy="61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r>
                <a:rPr lang="en-IN" sz="1400" dirty="0"/>
                <a:t>    </a:t>
              </a:r>
              <a:r>
                <a:rPr lang="en-IN" sz="1400" b="1" dirty="0"/>
                <a:t>Mapping </a:t>
              </a:r>
              <a:endParaRPr lang="en-IN" sz="1400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A37C79E0-75A5-1E86-025A-7A4AA09E8C18}"/>
                </a:ext>
              </a:extLst>
            </p:cNvPr>
            <p:cNvSpPr/>
            <p:nvPr/>
          </p:nvSpPr>
          <p:spPr>
            <a:xfrm>
              <a:off x="420829" y="3136863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B83F835-9BBF-BFDE-A566-68C6303FF956}"/>
              </a:ext>
            </a:extLst>
          </p:cNvPr>
          <p:cNvSpPr txBox="1"/>
          <p:nvPr/>
        </p:nvSpPr>
        <p:spPr>
          <a:xfrm>
            <a:off x="7074949" y="2079048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 🔗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EAFFA5-0083-B687-29A1-CCDD334DBDB9}"/>
              </a:ext>
            </a:extLst>
          </p:cNvPr>
          <p:cNvSpPr txBox="1"/>
          <p:nvPr/>
        </p:nvSpPr>
        <p:spPr>
          <a:xfrm>
            <a:off x="7635522" y="2441955"/>
            <a:ext cx="1964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regulation is understood and mapped to each control</a:t>
            </a:r>
            <a:endParaRPr lang="en-IN" sz="14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8A6815A5-C5DC-B3D6-C899-E13567491B10}"/>
              </a:ext>
            </a:extLst>
          </p:cNvPr>
          <p:cNvGrpSpPr/>
          <p:nvPr/>
        </p:nvGrpSpPr>
        <p:grpSpPr>
          <a:xfrm>
            <a:off x="7579653" y="4323666"/>
            <a:ext cx="1996657" cy="1237249"/>
            <a:chOff x="347086" y="2935546"/>
            <a:chExt cx="2077458" cy="1445957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8C8B5C1-804D-D38C-D4AA-9C40BB8EB19E}"/>
                </a:ext>
              </a:extLst>
            </p:cNvPr>
            <p:cNvSpPr txBox="1"/>
            <p:nvPr/>
          </p:nvSpPr>
          <p:spPr>
            <a:xfrm>
              <a:off x="347086" y="2935546"/>
              <a:ext cx="1953490" cy="6114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IN" sz="1400" b="1" dirty="0"/>
            </a:p>
            <a:p>
              <a:pPr algn="ctr"/>
              <a:r>
                <a:rPr lang="en-IN" sz="1400" b="1" dirty="0"/>
                <a:t>Impact Analysis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B56B437B-C775-CE06-1DC4-B08966E077BC}"/>
                </a:ext>
              </a:extLst>
            </p:cNvPr>
            <p:cNvSpPr/>
            <p:nvPr/>
          </p:nvSpPr>
          <p:spPr>
            <a:xfrm>
              <a:off x="421341" y="3136863"/>
              <a:ext cx="2003203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C4694309-D9B7-773A-B2E9-FA3511E76BBA}"/>
              </a:ext>
            </a:extLst>
          </p:cNvPr>
          <p:cNvSpPr txBox="1"/>
          <p:nvPr/>
        </p:nvSpPr>
        <p:spPr>
          <a:xfrm>
            <a:off x="7099812" y="4428684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🔍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4ECB75-0019-4CA1-CC9F-85EE0842EAEF}"/>
              </a:ext>
            </a:extLst>
          </p:cNvPr>
          <p:cNvSpPr txBox="1"/>
          <p:nvPr/>
        </p:nvSpPr>
        <p:spPr>
          <a:xfrm>
            <a:off x="7635522" y="4888216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Workshops + expert judgement 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4BCD410-2003-FB66-1027-B289236494DC}"/>
              </a:ext>
            </a:extLst>
          </p:cNvPr>
          <p:cNvCxnSpPr/>
          <p:nvPr/>
        </p:nvCxnSpPr>
        <p:spPr>
          <a:xfrm>
            <a:off x="7074949" y="3858247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1E123E6-623B-3234-F53B-65B1B2295938}"/>
              </a:ext>
            </a:extLst>
          </p:cNvPr>
          <p:cNvGrpSpPr/>
          <p:nvPr/>
        </p:nvGrpSpPr>
        <p:grpSpPr>
          <a:xfrm>
            <a:off x="10174013" y="3145852"/>
            <a:ext cx="1925782" cy="1303342"/>
            <a:chOff x="420829" y="2924012"/>
            <a:chExt cx="2003715" cy="14574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93C46EC-4A41-1554-BB22-F4BF7B53DBFE}"/>
                </a:ext>
              </a:extLst>
            </p:cNvPr>
            <p:cNvSpPr txBox="1"/>
            <p:nvPr/>
          </p:nvSpPr>
          <p:spPr>
            <a:xfrm>
              <a:off x="471054" y="2924012"/>
              <a:ext cx="1953490" cy="585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pPr algn="ctr"/>
              <a:r>
                <a:rPr lang="en-IN" sz="1400" b="1" dirty="0"/>
                <a:t>Gap Assessment</a:t>
              </a: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EE19D86-9A69-24E7-F13A-B780E04CDF17}"/>
                </a:ext>
              </a:extLst>
            </p:cNvPr>
            <p:cNvSpPr/>
            <p:nvPr/>
          </p:nvSpPr>
          <p:spPr>
            <a:xfrm>
              <a:off x="420829" y="3136861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0FEA319-D7D7-4BEA-18FA-B60CE55CF878}"/>
              </a:ext>
            </a:extLst>
          </p:cNvPr>
          <p:cNvSpPr txBox="1"/>
          <p:nvPr/>
        </p:nvSpPr>
        <p:spPr>
          <a:xfrm>
            <a:off x="9623297" y="3265917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📝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0AE7C91-E1C6-C3C5-ED44-175B76955E3A}"/>
              </a:ext>
            </a:extLst>
          </p:cNvPr>
          <p:cNvSpPr txBox="1"/>
          <p:nvPr/>
        </p:nvSpPr>
        <p:spPr>
          <a:xfrm>
            <a:off x="7671312" y="3683062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Policies in adherence by legal/compliance teams</a:t>
            </a:r>
            <a:endParaRPr lang="en-IN" sz="1400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948ECB3-346C-C019-4578-7898E1E47388}"/>
              </a:ext>
            </a:extLst>
          </p:cNvPr>
          <p:cNvCxnSpPr/>
          <p:nvPr/>
        </p:nvCxnSpPr>
        <p:spPr>
          <a:xfrm>
            <a:off x="9819957" y="3858247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2EF1137-C79D-6345-E699-5CDCF468B357}"/>
              </a:ext>
            </a:extLst>
          </p:cNvPr>
          <p:cNvGrpSpPr/>
          <p:nvPr/>
        </p:nvGrpSpPr>
        <p:grpSpPr>
          <a:xfrm>
            <a:off x="12728918" y="3143238"/>
            <a:ext cx="1925782" cy="1303342"/>
            <a:chOff x="420829" y="2924012"/>
            <a:chExt cx="2003715" cy="1457489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65EECC-B2B3-3D15-026E-D9D6E157C0AC}"/>
                </a:ext>
              </a:extLst>
            </p:cNvPr>
            <p:cNvSpPr txBox="1"/>
            <p:nvPr/>
          </p:nvSpPr>
          <p:spPr>
            <a:xfrm>
              <a:off x="471054" y="2924012"/>
              <a:ext cx="1953490" cy="585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pPr algn="ctr"/>
              <a:r>
                <a:rPr lang="en-IN" sz="1400" b="1" dirty="0"/>
                <a:t>Monitoring</a:t>
              </a:r>
            </a:p>
          </p:txBody>
        </p:sp>
        <p:sp>
          <p:nvSpPr>
            <p:cNvPr id="105" name="Rectangle: Rounded Corners 104">
              <a:extLst>
                <a:ext uri="{FF2B5EF4-FFF2-40B4-BE49-F238E27FC236}">
                  <a16:creationId xmlns:a16="http://schemas.microsoft.com/office/drawing/2014/main" id="{48090930-9E9D-9041-8DC8-A16CDE630EE8}"/>
                </a:ext>
              </a:extLst>
            </p:cNvPr>
            <p:cNvSpPr/>
            <p:nvPr/>
          </p:nvSpPr>
          <p:spPr>
            <a:xfrm>
              <a:off x="420829" y="3136861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71CE3D06-3A9F-7D5F-4F11-6DEB485A9AF5}"/>
              </a:ext>
            </a:extLst>
          </p:cNvPr>
          <p:cNvSpPr txBox="1"/>
          <p:nvPr/>
        </p:nvSpPr>
        <p:spPr>
          <a:xfrm>
            <a:off x="12178202" y="3263303"/>
            <a:ext cx="114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🔄</a:t>
            </a:r>
          </a:p>
          <a:p>
            <a:pPr algn="ctr"/>
            <a:r>
              <a:rPr lang="en-IN" sz="2400" dirty="0"/>
              <a:t> 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BC18ACF-81A1-C085-4E5A-8EBA8E9770AA}"/>
              </a:ext>
            </a:extLst>
          </p:cNvPr>
          <p:cNvSpPr txBox="1"/>
          <p:nvPr/>
        </p:nvSpPr>
        <p:spPr>
          <a:xfrm>
            <a:off x="12713912" y="3743552"/>
            <a:ext cx="1999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Continuous monitoring and checks with policies.</a:t>
            </a:r>
            <a:endParaRPr lang="en-IN" sz="1400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5EC708F-488B-AB4B-2DDA-54D590D1E396}"/>
              </a:ext>
            </a:extLst>
          </p:cNvPr>
          <p:cNvCxnSpPr/>
          <p:nvPr/>
        </p:nvCxnSpPr>
        <p:spPr>
          <a:xfrm>
            <a:off x="12301301" y="3904952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35E17A9-5D43-0C93-DCCE-8AC2DC32E2E4}"/>
              </a:ext>
            </a:extLst>
          </p:cNvPr>
          <p:cNvGrpSpPr/>
          <p:nvPr/>
        </p:nvGrpSpPr>
        <p:grpSpPr>
          <a:xfrm>
            <a:off x="15238351" y="3145221"/>
            <a:ext cx="1925782" cy="1303342"/>
            <a:chOff x="420829" y="2924012"/>
            <a:chExt cx="2003715" cy="1457489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4495311-39B2-18C9-29CB-D419CB7B9C68}"/>
                </a:ext>
              </a:extLst>
            </p:cNvPr>
            <p:cNvSpPr txBox="1"/>
            <p:nvPr/>
          </p:nvSpPr>
          <p:spPr>
            <a:xfrm>
              <a:off x="471054" y="2924012"/>
              <a:ext cx="1953490" cy="5851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400" dirty="0"/>
                <a:t> </a:t>
              </a:r>
            </a:p>
            <a:p>
              <a:pPr algn="ctr"/>
              <a:r>
                <a:rPr lang="en-IN" sz="1400" b="1" dirty="0"/>
                <a:t>Expert Dependency</a:t>
              </a: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E45C6598-0F56-DE2E-0BBB-99C9194B90C9}"/>
                </a:ext>
              </a:extLst>
            </p:cNvPr>
            <p:cNvSpPr/>
            <p:nvPr/>
          </p:nvSpPr>
          <p:spPr>
            <a:xfrm>
              <a:off x="420829" y="3136861"/>
              <a:ext cx="2003715" cy="1244640"/>
            </a:xfrm>
            <a:prstGeom prst="roundRect">
              <a:avLst>
                <a:gd name="adj" fmla="val 0"/>
              </a:avLst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DC7D458F-F0F6-8B3F-D76F-DEF3C9F9964A}"/>
              </a:ext>
            </a:extLst>
          </p:cNvPr>
          <p:cNvSpPr txBox="1"/>
          <p:nvPr/>
        </p:nvSpPr>
        <p:spPr>
          <a:xfrm>
            <a:off x="14687635" y="3265286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🧠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F050720-2A75-A798-F7E3-2289A27F9F75}"/>
              </a:ext>
            </a:extLst>
          </p:cNvPr>
          <p:cNvSpPr txBox="1"/>
          <p:nvPr/>
        </p:nvSpPr>
        <p:spPr>
          <a:xfrm>
            <a:off x="15214875" y="3623304"/>
            <a:ext cx="21446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High, as each process require manual interference &amp; expertise.</a:t>
            </a:r>
            <a:endParaRPr lang="en-IN" sz="14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EC30340-7A55-8A9C-4E35-BC153F3413EF}"/>
              </a:ext>
            </a:extLst>
          </p:cNvPr>
          <p:cNvCxnSpPr/>
          <p:nvPr/>
        </p:nvCxnSpPr>
        <p:spPr>
          <a:xfrm>
            <a:off x="14834951" y="3898051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3A00E31A-0592-AD91-84D7-50BBD662130C}"/>
              </a:ext>
            </a:extLst>
          </p:cNvPr>
          <p:cNvSpPr/>
          <p:nvPr/>
        </p:nvSpPr>
        <p:spPr>
          <a:xfrm>
            <a:off x="7436575" y="1954209"/>
            <a:ext cx="2273925" cy="3749750"/>
          </a:xfrm>
          <a:prstGeom prst="roundRect">
            <a:avLst>
              <a:gd name="adj" fmla="val 0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 descr="Stock Vector Image &amp; Art ...">
            <a:extLst>
              <a:ext uri="{FF2B5EF4-FFF2-40B4-BE49-F238E27FC236}">
                <a16:creationId xmlns:a16="http://schemas.microsoft.com/office/drawing/2014/main" id="{F4A7FBE1-1617-55F3-09D6-0DD582E2F3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3" t="1" r="27860" b="45756"/>
          <a:stretch>
            <a:fillRect/>
          </a:stretch>
        </p:blipFill>
        <p:spPr bwMode="auto">
          <a:xfrm>
            <a:off x="670302" y="3271418"/>
            <a:ext cx="1290657" cy="123021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D711AD48-1552-FC32-6221-8A53F9887502}"/>
              </a:ext>
            </a:extLst>
          </p:cNvPr>
          <p:cNvCxnSpPr>
            <a:cxnSpLocks/>
          </p:cNvCxnSpPr>
          <p:nvPr/>
        </p:nvCxnSpPr>
        <p:spPr>
          <a:xfrm>
            <a:off x="2083538" y="3893300"/>
            <a:ext cx="25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7B36DFF-FEB6-9233-1FAF-79C238BDC112}"/>
              </a:ext>
            </a:extLst>
          </p:cNvPr>
          <p:cNvCxnSpPr/>
          <p:nvPr/>
        </p:nvCxnSpPr>
        <p:spPr>
          <a:xfrm>
            <a:off x="4483329" y="8147424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26" name="Rectangle: Rounded Corners 3125">
            <a:extLst>
              <a:ext uri="{FF2B5EF4-FFF2-40B4-BE49-F238E27FC236}">
                <a16:creationId xmlns:a16="http://schemas.microsoft.com/office/drawing/2014/main" id="{91473827-6366-6127-1602-80C0612E0501}"/>
              </a:ext>
            </a:extLst>
          </p:cNvPr>
          <p:cNvSpPr/>
          <p:nvPr/>
        </p:nvSpPr>
        <p:spPr>
          <a:xfrm>
            <a:off x="5011004" y="7606328"/>
            <a:ext cx="1925782" cy="1113004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31" name="TextBox 3130">
            <a:extLst>
              <a:ext uri="{FF2B5EF4-FFF2-40B4-BE49-F238E27FC236}">
                <a16:creationId xmlns:a16="http://schemas.microsoft.com/office/drawing/2014/main" id="{6F165A7E-1338-51FD-0DE7-70C81224BC54}"/>
              </a:ext>
            </a:extLst>
          </p:cNvPr>
          <p:cNvSpPr txBox="1"/>
          <p:nvPr/>
        </p:nvSpPr>
        <p:spPr>
          <a:xfrm>
            <a:off x="2509643" y="7398925"/>
            <a:ext cx="1877511" cy="467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Regulatory Discovery</a:t>
            </a:r>
            <a:endParaRPr lang="en-IN" sz="1400" dirty="0"/>
          </a:p>
        </p:txBody>
      </p:sp>
      <p:sp>
        <p:nvSpPr>
          <p:cNvPr id="3130" name="TextBox 3129">
            <a:extLst>
              <a:ext uri="{FF2B5EF4-FFF2-40B4-BE49-F238E27FC236}">
                <a16:creationId xmlns:a16="http://schemas.microsoft.com/office/drawing/2014/main" id="{C4087668-31D4-8026-6575-D8C8205F3CA3}"/>
              </a:ext>
            </a:extLst>
          </p:cNvPr>
          <p:cNvSpPr txBox="1"/>
          <p:nvPr/>
        </p:nvSpPr>
        <p:spPr>
          <a:xfrm>
            <a:off x="1910655" y="7504225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📂 </a:t>
            </a:r>
          </a:p>
        </p:txBody>
      </p:sp>
      <p:sp>
        <p:nvSpPr>
          <p:cNvPr id="3128" name="TextBox 3127">
            <a:extLst>
              <a:ext uri="{FF2B5EF4-FFF2-40B4-BE49-F238E27FC236}">
                <a16:creationId xmlns:a16="http://schemas.microsoft.com/office/drawing/2014/main" id="{D7BBBE65-5155-C3C1-9EAD-8A22DA78E1C6}"/>
              </a:ext>
            </a:extLst>
          </p:cNvPr>
          <p:cNvSpPr txBox="1"/>
          <p:nvPr/>
        </p:nvSpPr>
        <p:spPr>
          <a:xfrm>
            <a:off x="2633523" y="7888476"/>
            <a:ext cx="19257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Auto-ingested + searchable knowledge base</a:t>
            </a:r>
            <a:endParaRPr lang="en-IN" sz="1400" dirty="0"/>
          </a:p>
        </p:txBody>
      </p:sp>
      <p:sp>
        <p:nvSpPr>
          <p:cNvPr id="3125" name="TextBox 3124">
            <a:extLst>
              <a:ext uri="{FF2B5EF4-FFF2-40B4-BE49-F238E27FC236}">
                <a16:creationId xmlns:a16="http://schemas.microsoft.com/office/drawing/2014/main" id="{60BB9617-5F3D-27CD-9E2B-11BDC8911D63}"/>
              </a:ext>
            </a:extLst>
          </p:cNvPr>
          <p:cNvSpPr txBox="1"/>
          <p:nvPr/>
        </p:nvSpPr>
        <p:spPr>
          <a:xfrm>
            <a:off x="5059276" y="7415990"/>
            <a:ext cx="1877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Regulatory Inventory</a:t>
            </a:r>
          </a:p>
        </p:txBody>
      </p:sp>
      <p:sp>
        <p:nvSpPr>
          <p:cNvPr id="3124" name="TextBox 3123">
            <a:extLst>
              <a:ext uri="{FF2B5EF4-FFF2-40B4-BE49-F238E27FC236}">
                <a16:creationId xmlns:a16="http://schemas.microsoft.com/office/drawing/2014/main" id="{D314B2DE-A367-877D-6481-39AEBA399E79}"/>
              </a:ext>
            </a:extLst>
          </p:cNvPr>
          <p:cNvSpPr txBox="1"/>
          <p:nvPr/>
        </p:nvSpPr>
        <p:spPr>
          <a:xfrm>
            <a:off x="4460288" y="7536055"/>
            <a:ext cx="114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🧾</a:t>
            </a:r>
          </a:p>
          <a:p>
            <a:pPr algn="ctr"/>
            <a:r>
              <a:rPr lang="en-IN" sz="2400" dirty="0"/>
              <a:t> </a:t>
            </a:r>
          </a:p>
        </p:txBody>
      </p:sp>
      <p:sp>
        <p:nvSpPr>
          <p:cNvPr id="3122" name="TextBox 3121">
            <a:extLst>
              <a:ext uri="{FF2B5EF4-FFF2-40B4-BE49-F238E27FC236}">
                <a16:creationId xmlns:a16="http://schemas.microsoft.com/office/drawing/2014/main" id="{FF19256B-B856-EE42-B468-F4B688FB9641}"/>
              </a:ext>
            </a:extLst>
          </p:cNvPr>
          <p:cNvSpPr txBox="1"/>
          <p:nvPr/>
        </p:nvSpPr>
        <p:spPr>
          <a:xfrm>
            <a:off x="4999206" y="7929114"/>
            <a:ext cx="1964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Auto-generated structured policy inventory</a:t>
            </a:r>
            <a:endParaRPr lang="en-IN" sz="1400" dirty="0"/>
          </a:p>
        </p:txBody>
      </p:sp>
      <p:sp>
        <p:nvSpPr>
          <p:cNvPr id="3102" name="Rectangle: Rounded Corners 3101">
            <a:extLst>
              <a:ext uri="{FF2B5EF4-FFF2-40B4-BE49-F238E27FC236}">
                <a16:creationId xmlns:a16="http://schemas.microsoft.com/office/drawing/2014/main" id="{531A1E41-BB73-EFE6-F01C-50AEF22EAA58}"/>
              </a:ext>
            </a:extLst>
          </p:cNvPr>
          <p:cNvSpPr/>
          <p:nvPr/>
        </p:nvSpPr>
        <p:spPr>
          <a:xfrm>
            <a:off x="10189511" y="7608942"/>
            <a:ext cx="1925782" cy="1113004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20" name="Rectangle: Rounded Corners 3119">
            <a:extLst>
              <a:ext uri="{FF2B5EF4-FFF2-40B4-BE49-F238E27FC236}">
                <a16:creationId xmlns:a16="http://schemas.microsoft.com/office/drawing/2014/main" id="{72F79FDD-C967-B627-95AD-6D23ECACED13}"/>
              </a:ext>
            </a:extLst>
          </p:cNvPr>
          <p:cNvSpPr/>
          <p:nvPr/>
        </p:nvSpPr>
        <p:spPr>
          <a:xfrm>
            <a:off x="7666026" y="7582997"/>
            <a:ext cx="1925782" cy="106499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9" name="TextBox 3118">
            <a:extLst>
              <a:ext uri="{FF2B5EF4-FFF2-40B4-BE49-F238E27FC236}">
                <a16:creationId xmlns:a16="http://schemas.microsoft.com/office/drawing/2014/main" id="{3F59BDCD-266A-2E89-5C40-5E1ED2C8F8BB}"/>
              </a:ext>
            </a:extLst>
          </p:cNvPr>
          <p:cNvSpPr txBox="1"/>
          <p:nvPr/>
        </p:nvSpPr>
        <p:spPr>
          <a:xfrm>
            <a:off x="7521915" y="7402125"/>
            <a:ext cx="1877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Policy Guider </a:t>
            </a:r>
          </a:p>
        </p:txBody>
      </p:sp>
      <p:sp>
        <p:nvSpPr>
          <p:cNvPr id="3118" name="TextBox 3117">
            <a:extLst>
              <a:ext uri="{FF2B5EF4-FFF2-40B4-BE49-F238E27FC236}">
                <a16:creationId xmlns:a16="http://schemas.microsoft.com/office/drawing/2014/main" id="{8801023C-4DE3-EB6A-BC4D-A9E7E3ACB627}"/>
              </a:ext>
            </a:extLst>
          </p:cNvPr>
          <p:cNvSpPr txBox="1"/>
          <p:nvPr/>
        </p:nvSpPr>
        <p:spPr>
          <a:xfrm>
            <a:off x="7115310" y="7515756"/>
            <a:ext cx="114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📊</a:t>
            </a:r>
          </a:p>
          <a:p>
            <a:pPr algn="ctr"/>
            <a:r>
              <a:rPr lang="en-IN" sz="2400" dirty="0"/>
              <a:t> </a:t>
            </a:r>
          </a:p>
        </p:txBody>
      </p:sp>
      <p:sp>
        <p:nvSpPr>
          <p:cNvPr id="3116" name="TextBox 3115">
            <a:extLst>
              <a:ext uri="{FF2B5EF4-FFF2-40B4-BE49-F238E27FC236}">
                <a16:creationId xmlns:a16="http://schemas.microsoft.com/office/drawing/2014/main" id="{5EDA9286-0B16-FB45-B93F-DF03C4C1EF04}"/>
              </a:ext>
            </a:extLst>
          </p:cNvPr>
          <p:cNvSpPr txBox="1"/>
          <p:nvPr/>
        </p:nvSpPr>
        <p:spPr>
          <a:xfrm>
            <a:off x="10241281" y="7920091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Automated gap detection in policies</a:t>
            </a:r>
          </a:p>
        </p:txBody>
      </p:sp>
      <p:sp>
        <p:nvSpPr>
          <p:cNvPr id="3114" name="Rectangle: Rounded Corners 3113">
            <a:extLst>
              <a:ext uri="{FF2B5EF4-FFF2-40B4-BE49-F238E27FC236}">
                <a16:creationId xmlns:a16="http://schemas.microsoft.com/office/drawing/2014/main" id="{EE684EA7-A93F-7572-B470-4F07FF098BC8}"/>
              </a:ext>
            </a:extLst>
          </p:cNvPr>
          <p:cNvSpPr/>
          <p:nvPr/>
        </p:nvSpPr>
        <p:spPr>
          <a:xfrm>
            <a:off x="7641163" y="6419041"/>
            <a:ext cx="1925782" cy="106499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13" name="TextBox 3112">
            <a:extLst>
              <a:ext uri="{FF2B5EF4-FFF2-40B4-BE49-F238E27FC236}">
                <a16:creationId xmlns:a16="http://schemas.microsoft.com/office/drawing/2014/main" id="{FEC30A8B-03E5-E88B-12A1-178FCF14177C}"/>
              </a:ext>
            </a:extLst>
          </p:cNvPr>
          <p:cNvSpPr txBox="1"/>
          <p:nvPr/>
        </p:nvSpPr>
        <p:spPr>
          <a:xfrm>
            <a:off x="7689435" y="6236913"/>
            <a:ext cx="1877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r>
              <a:rPr lang="en-IN" sz="1400" dirty="0"/>
              <a:t>    </a:t>
            </a:r>
            <a:r>
              <a:rPr lang="en-IN" sz="1400" b="1" dirty="0"/>
              <a:t>Mapping </a:t>
            </a:r>
            <a:endParaRPr lang="en-IN" sz="1400" dirty="0"/>
          </a:p>
        </p:txBody>
      </p:sp>
      <p:sp>
        <p:nvSpPr>
          <p:cNvPr id="3112" name="TextBox 3111">
            <a:extLst>
              <a:ext uri="{FF2B5EF4-FFF2-40B4-BE49-F238E27FC236}">
                <a16:creationId xmlns:a16="http://schemas.microsoft.com/office/drawing/2014/main" id="{9CEF4341-BCCA-CA29-E70F-6994FA33548C}"/>
              </a:ext>
            </a:extLst>
          </p:cNvPr>
          <p:cNvSpPr txBox="1"/>
          <p:nvPr/>
        </p:nvSpPr>
        <p:spPr>
          <a:xfrm>
            <a:off x="7090447" y="6351800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 🔗 </a:t>
            </a:r>
          </a:p>
        </p:txBody>
      </p:sp>
      <p:sp>
        <p:nvSpPr>
          <p:cNvPr id="3110" name="TextBox 3109">
            <a:extLst>
              <a:ext uri="{FF2B5EF4-FFF2-40B4-BE49-F238E27FC236}">
                <a16:creationId xmlns:a16="http://schemas.microsoft.com/office/drawing/2014/main" id="{0369BA69-0C5A-0513-0482-177CCBCDFA4A}"/>
              </a:ext>
            </a:extLst>
          </p:cNvPr>
          <p:cNvSpPr txBox="1"/>
          <p:nvPr/>
        </p:nvSpPr>
        <p:spPr>
          <a:xfrm>
            <a:off x="7651020" y="6714707"/>
            <a:ext cx="19642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AI auto-maps obligations to business context</a:t>
            </a:r>
            <a:endParaRPr lang="en-IN" sz="1400" dirty="0"/>
          </a:p>
        </p:txBody>
      </p:sp>
      <p:sp>
        <p:nvSpPr>
          <p:cNvPr id="3107" name="TextBox 3106">
            <a:extLst>
              <a:ext uri="{FF2B5EF4-FFF2-40B4-BE49-F238E27FC236}">
                <a16:creationId xmlns:a16="http://schemas.microsoft.com/office/drawing/2014/main" id="{DCF00AFC-4CF1-C407-9354-6A702364E385}"/>
              </a:ext>
            </a:extLst>
          </p:cNvPr>
          <p:cNvSpPr txBox="1"/>
          <p:nvPr/>
        </p:nvSpPr>
        <p:spPr>
          <a:xfrm>
            <a:off x="7714298" y="8586549"/>
            <a:ext cx="1877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Impact Analysis</a:t>
            </a:r>
          </a:p>
        </p:txBody>
      </p:sp>
      <p:sp>
        <p:nvSpPr>
          <p:cNvPr id="3108" name="Rectangle: Rounded Corners 3107">
            <a:extLst>
              <a:ext uri="{FF2B5EF4-FFF2-40B4-BE49-F238E27FC236}">
                <a16:creationId xmlns:a16="http://schemas.microsoft.com/office/drawing/2014/main" id="{932D66E2-0691-B458-C5AB-0A6EEF9AFA54}"/>
              </a:ext>
            </a:extLst>
          </p:cNvPr>
          <p:cNvSpPr/>
          <p:nvPr/>
        </p:nvSpPr>
        <p:spPr>
          <a:xfrm>
            <a:off x="7666026" y="8768677"/>
            <a:ext cx="1925782" cy="1064990"/>
          </a:xfrm>
          <a:prstGeom prst="roundRect">
            <a:avLst>
              <a:gd name="adj" fmla="val 0"/>
            </a:avLst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06" name="TextBox 3105">
            <a:extLst>
              <a:ext uri="{FF2B5EF4-FFF2-40B4-BE49-F238E27FC236}">
                <a16:creationId xmlns:a16="http://schemas.microsoft.com/office/drawing/2014/main" id="{19CCC39B-21FD-F293-1795-9D81C568F328}"/>
              </a:ext>
            </a:extLst>
          </p:cNvPr>
          <p:cNvSpPr txBox="1"/>
          <p:nvPr/>
        </p:nvSpPr>
        <p:spPr>
          <a:xfrm>
            <a:off x="7190427" y="8660949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🔍 </a:t>
            </a:r>
          </a:p>
        </p:txBody>
      </p:sp>
      <p:sp>
        <p:nvSpPr>
          <p:cNvPr id="3104" name="TextBox 3103">
            <a:extLst>
              <a:ext uri="{FF2B5EF4-FFF2-40B4-BE49-F238E27FC236}">
                <a16:creationId xmlns:a16="http://schemas.microsoft.com/office/drawing/2014/main" id="{1B3A1F05-4AE4-FF1B-06F6-FEC4AB39C221}"/>
              </a:ext>
            </a:extLst>
          </p:cNvPr>
          <p:cNvSpPr txBox="1"/>
          <p:nvPr/>
        </p:nvSpPr>
        <p:spPr>
          <a:xfrm>
            <a:off x="7651020" y="9160968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Workshops + expert judgement </a:t>
            </a:r>
          </a:p>
        </p:txBody>
      </p:sp>
      <p:cxnSp>
        <p:nvCxnSpPr>
          <p:cNvPr id="3078" name="Straight Arrow Connector 3077">
            <a:extLst>
              <a:ext uri="{FF2B5EF4-FFF2-40B4-BE49-F238E27FC236}">
                <a16:creationId xmlns:a16="http://schemas.microsoft.com/office/drawing/2014/main" id="{E9C4B28B-B54B-B28D-1EF3-79AEDE8A5B59}"/>
              </a:ext>
            </a:extLst>
          </p:cNvPr>
          <p:cNvCxnSpPr/>
          <p:nvPr/>
        </p:nvCxnSpPr>
        <p:spPr>
          <a:xfrm>
            <a:off x="7090447" y="813099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1" name="TextBox 3100">
            <a:extLst>
              <a:ext uri="{FF2B5EF4-FFF2-40B4-BE49-F238E27FC236}">
                <a16:creationId xmlns:a16="http://schemas.microsoft.com/office/drawing/2014/main" id="{3E0C196D-53D1-6D4A-74F8-ECE553D19937}"/>
              </a:ext>
            </a:extLst>
          </p:cNvPr>
          <p:cNvSpPr txBox="1"/>
          <p:nvPr/>
        </p:nvSpPr>
        <p:spPr>
          <a:xfrm>
            <a:off x="10237783" y="7418604"/>
            <a:ext cx="1877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 </a:t>
            </a:r>
          </a:p>
          <a:p>
            <a:pPr algn="ctr"/>
            <a:r>
              <a:rPr lang="en-IN" sz="1400" b="1" dirty="0"/>
              <a:t>Gap Assessment</a:t>
            </a:r>
          </a:p>
        </p:txBody>
      </p:sp>
      <p:sp>
        <p:nvSpPr>
          <p:cNvPr id="3100" name="TextBox 3099">
            <a:extLst>
              <a:ext uri="{FF2B5EF4-FFF2-40B4-BE49-F238E27FC236}">
                <a16:creationId xmlns:a16="http://schemas.microsoft.com/office/drawing/2014/main" id="{E9A8ED31-57BA-52C4-EA7E-6147A4D501D6}"/>
              </a:ext>
            </a:extLst>
          </p:cNvPr>
          <p:cNvSpPr txBox="1"/>
          <p:nvPr/>
        </p:nvSpPr>
        <p:spPr>
          <a:xfrm>
            <a:off x="9638795" y="7538669"/>
            <a:ext cx="114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📝 </a:t>
            </a:r>
          </a:p>
        </p:txBody>
      </p:sp>
      <p:sp>
        <p:nvSpPr>
          <p:cNvPr id="3098" name="TextBox 3097">
            <a:extLst>
              <a:ext uri="{FF2B5EF4-FFF2-40B4-BE49-F238E27FC236}">
                <a16:creationId xmlns:a16="http://schemas.microsoft.com/office/drawing/2014/main" id="{37A543E5-7A65-D33F-0DF5-66E018DDAF55}"/>
              </a:ext>
            </a:extLst>
          </p:cNvPr>
          <p:cNvSpPr txBox="1"/>
          <p:nvPr/>
        </p:nvSpPr>
        <p:spPr>
          <a:xfrm>
            <a:off x="7686810" y="7955814"/>
            <a:ext cx="1964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AI-generated clauses + guidance document</a:t>
            </a:r>
            <a:endParaRPr lang="en-IN" sz="1400" dirty="0"/>
          </a:p>
        </p:txBody>
      </p:sp>
      <p:cxnSp>
        <p:nvCxnSpPr>
          <p:cNvPr id="3080" name="Straight Arrow Connector 3079">
            <a:extLst>
              <a:ext uri="{FF2B5EF4-FFF2-40B4-BE49-F238E27FC236}">
                <a16:creationId xmlns:a16="http://schemas.microsoft.com/office/drawing/2014/main" id="{A9FB78D7-5CF2-22CC-C3AE-D90418CBC371}"/>
              </a:ext>
            </a:extLst>
          </p:cNvPr>
          <p:cNvCxnSpPr/>
          <p:nvPr/>
        </p:nvCxnSpPr>
        <p:spPr>
          <a:xfrm>
            <a:off x="9835455" y="813099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7EC49111-D421-2EF1-270A-0EE8E190E3CB}"/>
              </a:ext>
            </a:extLst>
          </p:cNvPr>
          <p:cNvGrpSpPr/>
          <p:nvPr/>
        </p:nvGrpSpPr>
        <p:grpSpPr>
          <a:xfrm>
            <a:off x="12193700" y="7415990"/>
            <a:ext cx="2535056" cy="1303342"/>
            <a:chOff x="-129887" y="2925760"/>
            <a:chExt cx="2535056" cy="1303342"/>
          </a:xfrm>
        </p:grpSpPr>
        <p:grpSp>
          <p:nvGrpSpPr>
            <p:cNvPr id="3091" name="Group 3090">
              <a:extLst>
                <a:ext uri="{FF2B5EF4-FFF2-40B4-BE49-F238E27FC236}">
                  <a16:creationId xmlns:a16="http://schemas.microsoft.com/office/drawing/2014/main" id="{D15280CB-9BCB-5B29-8B39-2C9EAD257DDB}"/>
                </a:ext>
              </a:extLst>
            </p:cNvPr>
            <p:cNvGrpSpPr/>
            <p:nvPr/>
          </p:nvGrpSpPr>
          <p:grpSpPr>
            <a:xfrm>
              <a:off x="-129887" y="2925760"/>
              <a:ext cx="2476498" cy="1303342"/>
              <a:chOff x="-129887" y="2925760"/>
              <a:chExt cx="2476498" cy="1303342"/>
            </a:xfrm>
          </p:grpSpPr>
          <p:grpSp>
            <p:nvGrpSpPr>
              <p:cNvPr id="3093" name="Group 3092">
                <a:extLst>
                  <a:ext uri="{FF2B5EF4-FFF2-40B4-BE49-F238E27FC236}">
                    <a16:creationId xmlns:a16="http://schemas.microsoft.com/office/drawing/2014/main" id="{F0BD527D-7E0E-2020-849D-A7DBC676B5FD}"/>
                  </a:ext>
                </a:extLst>
              </p:cNvPr>
              <p:cNvGrpSpPr/>
              <p:nvPr/>
            </p:nvGrpSpPr>
            <p:grpSpPr>
              <a:xfrm>
                <a:off x="420829" y="2925760"/>
                <a:ext cx="1925782" cy="1303342"/>
                <a:chOff x="420829" y="2924012"/>
                <a:chExt cx="2003715" cy="1457489"/>
              </a:xfrm>
            </p:grpSpPr>
            <p:sp>
              <p:nvSpPr>
                <p:cNvPr id="3095" name="TextBox 3094">
                  <a:extLst>
                    <a:ext uri="{FF2B5EF4-FFF2-40B4-BE49-F238E27FC236}">
                      <a16:creationId xmlns:a16="http://schemas.microsoft.com/office/drawing/2014/main" id="{3254BEEF-34D1-B2AD-28B0-826B1A0442F7}"/>
                    </a:ext>
                  </a:extLst>
                </p:cNvPr>
                <p:cNvSpPr txBox="1"/>
                <p:nvPr/>
              </p:nvSpPr>
              <p:spPr>
                <a:xfrm>
                  <a:off x="471054" y="2924012"/>
                  <a:ext cx="1953490" cy="5851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400" dirty="0"/>
                    <a:t> </a:t>
                  </a:r>
                </a:p>
                <a:p>
                  <a:pPr algn="ctr"/>
                  <a:r>
                    <a:rPr lang="en-IN" sz="1400" b="1" dirty="0"/>
                    <a:t>Monitoring</a:t>
                  </a:r>
                </a:p>
              </p:txBody>
            </p:sp>
            <p:sp>
              <p:nvSpPr>
                <p:cNvPr id="3096" name="Rectangle: Rounded Corners 3095">
                  <a:extLst>
                    <a:ext uri="{FF2B5EF4-FFF2-40B4-BE49-F238E27FC236}">
                      <a16:creationId xmlns:a16="http://schemas.microsoft.com/office/drawing/2014/main" id="{C849A3AA-4A7B-A3C8-D975-0C552FFAC731}"/>
                    </a:ext>
                  </a:extLst>
                </p:cNvPr>
                <p:cNvSpPr/>
                <p:nvPr/>
              </p:nvSpPr>
              <p:spPr>
                <a:xfrm>
                  <a:off x="420829" y="3136861"/>
                  <a:ext cx="2003715" cy="1244640"/>
                </a:xfrm>
                <a:prstGeom prst="roundRect">
                  <a:avLst>
                    <a:gd name="adj" fmla="val 0"/>
                  </a:avLst>
                </a:prstGeom>
                <a:no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094" name="TextBox 3093">
                <a:extLst>
                  <a:ext uri="{FF2B5EF4-FFF2-40B4-BE49-F238E27FC236}">
                    <a16:creationId xmlns:a16="http://schemas.microsoft.com/office/drawing/2014/main" id="{943936C9-8483-F963-EF48-A4E3A9100E34}"/>
                  </a:ext>
                </a:extLst>
              </p:cNvPr>
              <p:cNvSpPr txBox="1"/>
              <p:nvPr/>
            </p:nvSpPr>
            <p:spPr>
              <a:xfrm>
                <a:off x="-129887" y="3045825"/>
                <a:ext cx="1143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400" dirty="0"/>
                  <a:t>🔄</a:t>
                </a:r>
              </a:p>
              <a:p>
                <a:pPr algn="ctr"/>
                <a:r>
                  <a:rPr lang="en-IN" sz="2400" dirty="0"/>
                  <a:t> </a:t>
                </a:r>
              </a:p>
            </p:txBody>
          </p:sp>
        </p:grpSp>
        <p:sp>
          <p:nvSpPr>
            <p:cNvPr id="3092" name="TextBox 3091">
              <a:extLst>
                <a:ext uri="{FF2B5EF4-FFF2-40B4-BE49-F238E27FC236}">
                  <a16:creationId xmlns:a16="http://schemas.microsoft.com/office/drawing/2014/main" id="{E285DCDB-35D4-B366-46EE-D416D7ACE7C7}"/>
                </a:ext>
              </a:extLst>
            </p:cNvPr>
            <p:cNvSpPr txBox="1"/>
            <p:nvPr/>
          </p:nvSpPr>
          <p:spPr>
            <a:xfrm>
              <a:off x="405823" y="3526074"/>
              <a:ext cx="19993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Continuous monitoring and checks with policies.</a:t>
              </a:r>
              <a:endParaRPr lang="en-IN" sz="1400" dirty="0"/>
            </a:p>
          </p:txBody>
        </p:sp>
      </p:grpSp>
      <p:cxnSp>
        <p:nvCxnSpPr>
          <p:cNvPr id="3082" name="Straight Arrow Connector 3081">
            <a:extLst>
              <a:ext uri="{FF2B5EF4-FFF2-40B4-BE49-F238E27FC236}">
                <a16:creationId xmlns:a16="http://schemas.microsoft.com/office/drawing/2014/main" id="{A634A938-E449-7B8C-57F6-8FB318AF7DBC}"/>
              </a:ext>
            </a:extLst>
          </p:cNvPr>
          <p:cNvCxnSpPr/>
          <p:nvPr/>
        </p:nvCxnSpPr>
        <p:spPr>
          <a:xfrm>
            <a:off x="12316799" y="8177704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D8F405C4-CD98-BCED-17C4-FB98CA187A96}"/>
              </a:ext>
            </a:extLst>
          </p:cNvPr>
          <p:cNvGrpSpPr/>
          <p:nvPr/>
        </p:nvGrpSpPr>
        <p:grpSpPr>
          <a:xfrm>
            <a:off x="14703133" y="7417973"/>
            <a:ext cx="2671884" cy="1303342"/>
            <a:chOff x="-129887" y="2925760"/>
            <a:chExt cx="2671884" cy="1303342"/>
          </a:xfrm>
        </p:grpSpPr>
        <p:grpSp>
          <p:nvGrpSpPr>
            <p:cNvPr id="3085" name="Group 3084">
              <a:extLst>
                <a:ext uri="{FF2B5EF4-FFF2-40B4-BE49-F238E27FC236}">
                  <a16:creationId xmlns:a16="http://schemas.microsoft.com/office/drawing/2014/main" id="{00727687-5588-4521-494F-7D4209D5E64F}"/>
                </a:ext>
              </a:extLst>
            </p:cNvPr>
            <p:cNvGrpSpPr/>
            <p:nvPr/>
          </p:nvGrpSpPr>
          <p:grpSpPr>
            <a:xfrm>
              <a:off x="-129887" y="2925760"/>
              <a:ext cx="2476498" cy="1303342"/>
              <a:chOff x="-129887" y="2925760"/>
              <a:chExt cx="2476498" cy="1303342"/>
            </a:xfrm>
          </p:grpSpPr>
          <p:grpSp>
            <p:nvGrpSpPr>
              <p:cNvPr id="3087" name="Group 3086">
                <a:extLst>
                  <a:ext uri="{FF2B5EF4-FFF2-40B4-BE49-F238E27FC236}">
                    <a16:creationId xmlns:a16="http://schemas.microsoft.com/office/drawing/2014/main" id="{6DDC6BB9-8ABD-A32C-FDF4-8D7389584708}"/>
                  </a:ext>
                </a:extLst>
              </p:cNvPr>
              <p:cNvGrpSpPr/>
              <p:nvPr/>
            </p:nvGrpSpPr>
            <p:grpSpPr>
              <a:xfrm>
                <a:off x="420829" y="2925760"/>
                <a:ext cx="1925782" cy="1303342"/>
                <a:chOff x="420829" y="2924012"/>
                <a:chExt cx="2003715" cy="1457489"/>
              </a:xfrm>
            </p:grpSpPr>
            <p:sp>
              <p:nvSpPr>
                <p:cNvPr id="3089" name="TextBox 3088">
                  <a:extLst>
                    <a:ext uri="{FF2B5EF4-FFF2-40B4-BE49-F238E27FC236}">
                      <a16:creationId xmlns:a16="http://schemas.microsoft.com/office/drawing/2014/main" id="{E5012EF1-AC55-3634-0667-A5A527A476CB}"/>
                    </a:ext>
                  </a:extLst>
                </p:cNvPr>
                <p:cNvSpPr txBox="1"/>
                <p:nvPr/>
              </p:nvSpPr>
              <p:spPr>
                <a:xfrm>
                  <a:off x="471054" y="2924012"/>
                  <a:ext cx="1953490" cy="58510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400" dirty="0"/>
                    <a:t> </a:t>
                  </a:r>
                </a:p>
                <a:p>
                  <a:pPr algn="ctr"/>
                  <a:r>
                    <a:rPr lang="en-IN" sz="1400" b="1" dirty="0"/>
                    <a:t>Expert Dependency</a:t>
                  </a:r>
                </a:p>
              </p:txBody>
            </p:sp>
            <p:sp>
              <p:nvSpPr>
                <p:cNvPr id="3090" name="Rectangle: Rounded Corners 3089">
                  <a:extLst>
                    <a:ext uri="{FF2B5EF4-FFF2-40B4-BE49-F238E27FC236}">
                      <a16:creationId xmlns:a16="http://schemas.microsoft.com/office/drawing/2014/main" id="{99E935F7-CBD7-4A1B-DD8D-74E88DD411E4}"/>
                    </a:ext>
                  </a:extLst>
                </p:cNvPr>
                <p:cNvSpPr/>
                <p:nvPr/>
              </p:nvSpPr>
              <p:spPr>
                <a:xfrm>
                  <a:off x="420829" y="3136861"/>
                  <a:ext cx="2003715" cy="1244640"/>
                </a:xfrm>
                <a:prstGeom prst="roundRect">
                  <a:avLst>
                    <a:gd name="adj" fmla="val 0"/>
                  </a:avLst>
                </a:prstGeom>
                <a:no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3088" name="TextBox 3087">
                <a:extLst>
                  <a:ext uri="{FF2B5EF4-FFF2-40B4-BE49-F238E27FC236}">
                    <a16:creationId xmlns:a16="http://schemas.microsoft.com/office/drawing/2014/main" id="{D24DEACC-126B-59B6-2F25-D18069A0CE35}"/>
                  </a:ext>
                </a:extLst>
              </p:cNvPr>
              <p:cNvSpPr txBox="1"/>
              <p:nvPr/>
            </p:nvSpPr>
            <p:spPr>
              <a:xfrm>
                <a:off x="-129887" y="3045825"/>
                <a:ext cx="1143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2400" dirty="0"/>
                  <a:t>🧠 </a:t>
                </a:r>
              </a:p>
            </p:txBody>
          </p:sp>
        </p:grpSp>
        <p:sp>
          <p:nvSpPr>
            <p:cNvPr id="3086" name="TextBox 3085">
              <a:extLst>
                <a:ext uri="{FF2B5EF4-FFF2-40B4-BE49-F238E27FC236}">
                  <a16:creationId xmlns:a16="http://schemas.microsoft.com/office/drawing/2014/main" id="{C78BD16F-0225-05C4-0D87-BD908ACA264F}"/>
                </a:ext>
              </a:extLst>
            </p:cNvPr>
            <p:cNvSpPr txBox="1"/>
            <p:nvPr/>
          </p:nvSpPr>
          <p:spPr>
            <a:xfrm>
              <a:off x="397353" y="3403843"/>
              <a:ext cx="21446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High, as each process require manual interference &amp; expertise.</a:t>
              </a:r>
              <a:endParaRPr lang="en-IN" sz="1400" dirty="0"/>
            </a:p>
          </p:txBody>
        </p:sp>
      </p:grpSp>
      <p:cxnSp>
        <p:nvCxnSpPr>
          <p:cNvPr id="3084" name="Straight Arrow Connector 3083">
            <a:extLst>
              <a:ext uri="{FF2B5EF4-FFF2-40B4-BE49-F238E27FC236}">
                <a16:creationId xmlns:a16="http://schemas.microsoft.com/office/drawing/2014/main" id="{5E4B472E-D8AC-0BB0-0E46-F4AC7652CCB1}"/>
              </a:ext>
            </a:extLst>
          </p:cNvPr>
          <p:cNvCxnSpPr/>
          <p:nvPr/>
        </p:nvCxnSpPr>
        <p:spPr>
          <a:xfrm>
            <a:off x="14850449" y="8170803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47E22E4D-D267-5E4F-F1D1-C7DA093BB9E3}"/>
              </a:ext>
            </a:extLst>
          </p:cNvPr>
          <p:cNvSpPr/>
          <p:nvPr/>
        </p:nvSpPr>
        <p:spPr>
          <a:xfrm>
            <a:off x="7452073" y="6226961"/>
            <a:ext cx="2273925" cy="3749750"/>
          </a:xfrm>
          <a:prstGeom prst="roundRect">
            <a:avLst>
              <a:gd name="adj" fmla="val 0"/>
            </a:avLst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6" name="Picture 2" descr="Stock Vector Image &amp; Art ...">
            <a:extLst>
              <a:ext uri="{FF2B5EF4-FFF2-40B4-BE49-F238E27FC236}">
                <a16:creationId xmlns:a16="http://schemas.microsoft.com/office/drawing/2014/main" id="{E4ACDC96-52EE-F24A-DF47-25C325E13E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3" t="1" r="27860" b="45756"/>
          <a:stretch>
            <a:fillRect/>
          </a:stretch>
        </p:blipFill>
        <p:spPr bwMode="auto">
          <a:xfrm>
            <a:off x="685800" y="7544170"/>
            <a:ext cx="1290657" cy="1230213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9C18E9D-1D75-63E4-4DC6-0D5CE6346732}"/>
              </a:ext>
            </a:extLst>
          </p:cNvPr>
          <p:cNvCxnSpPr>
            <a:cxnSpLocks/>
          </p:cNvCxnSpPr>
          <p:nvPr/>
        </p:nvCxnSpPr>
        <p:spPr>
          <a:xfrm>
            <a:off x="2099036" y="8166052"/>
            <a:ext cx="2546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33" name="Oval 3132">
            <a:extLst>
              <a:ext uri="{FF2B5EF4-FFF2-40B4-BE49-F238E27FC236}">
                <a16:creationId xmlns:a16="http://schemas.microsoft.com/office/drawing/2014/main" id="{EAF70DA5-3DF5-FEDA-9FE3-75F782D246C9}"/>
              </a:ext>
            </a:extLst>
          </p:cNvPr>
          <p:cNvSpPr/>
          <p:nvPr/>
        </p:nvSpPr>
        <p:spPr>
          <a:xfrm>
            <a:off x="4191000" y="7504225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34" name="Oval 3133">
            <a:extLst>
              <a:ext uri="{FF2B5EF4-FFF2-40B4-BE49-F238E27FC236}">
                <a16:creationId xmlns:a16="http://schemas.microsoft.com/office/drawing/2014/main" id="{E36A26FC-8C94-54D2-E09D-B63BC5FE1888}"/>
              </a:ext>
            </a:extLst>
          </p:cNvPr>
          <p:cNvSpPr/>
          <p:nvPr/>
        </p:nvSpPr>
        <p:spPr>
          <a:xfrm>
            <a:off x="6745710" y="7508096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35" name="Oval 3134">
            <a:extLst>
              <a:ext uri="{FF2B5EF4-FFF2-40B4-BE49-F238E27FC236}">
                <a16:creationId xmlns:a16="http://schemas.microsoft.com/office/drawing/2014/main" id="{2F484A58-354B-2DA1-F43F-E2E7604CF00B}"/>
              </a:ext>
            </a:extLst>
          </p:cNvPr>
          <p:cNvSpPr/>
          <p:nvPr/>
        </p:nvSpPr>
        <p:spPr>
          <a:xfrm>
            <a:off x="9322520" y="6357587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36" name="Oval 3135">
            <a:extLst>
              <a:ext uri="{FF2B5EF4-FFF2-40B4-BE49-F238E27FC236}">
                <a16:creationId xmlns:a16="http://schemas.microsoft.com/office/drawing/2014/main" id="{7B7A3314-E9BF-154B-27E0-D4F6484D2368}"/>
              </a:ext>
            </a:extLst>
          </p:cNvPr>
          <p:cNvSpPr/>
          <p:nvPr/>
        </p:nvSpPr>
        <p:spPr>
          <a:xfrm>
            <a:off x="9374991" y="7491725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37" name="Oval 3136">
            <a:extLst>
              <a:ext uri="{FF2B5EF4-FFF2-40B4-BE49-F238E27FC236}">
                <a16:creationId xmlns:a16="http://schemas.microsoft.com/office/drawing/2014/main" id="{5B8B3FBB-EF4B-D31B-E9B8-3E80ACA4435B}"/>
              </a:ext>
            </a:extLst>
          </p:cNvPr>
          <p:cNvSpPr/>
          <p:nvPr/>
        </p:nvSpPr>
        <p:spPr>
          <a:xfrm>
            <a:off x="11856098" y="7487974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38" name="Oval 3137">
            <a:extLst>
              <a:ext uri="{FF2B5EF4-FFF2-40B4-BE49-F238E27FC236}">
                <a16:creationId xmlns:a16="http://schemas.microsoft.com/office/drawing/2014/main" id="{20BF227B-B35F-5E8E-CB19-4BFC2DC39DF9}"/>
              </a:ext>
            </a:extLst>
          </p:cNvPr>
          <p:cNvSpPr/>
          <p:nvPr/>
        </p:nvSpPr>
        <p:spPr>
          <a:xfrm>
            <a:off x="6439363" y="7508096"/>
            <a:ext cx="269288" cy="230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endParaRPr lang="en-IN" b="1" dirty="0"/>
          </a:p>
        </p:txBody>
      </p:sp>
      <p:sp>
        <p:nvSpPr>
          <p:cNvPr id="3139" name="Oval 3138">
            <a:extLst>
              <a:ext uri="{FF2B5EF4-FFF2-40B4-BE49-F238E27FC236}">
                <a16:creationId xmlns:a16="http://schemas.microsoft.com/office/drawing/2014/main" id="{119B75E6-E5DE-B5A1-CB9A-624EDE0DF42B}"/>
              </a:ext>
            </a:extLst>
          </p:cNvPr>
          <p:cNvSpPr/>
          <p:nvPr/>
        </p:nvSpPr>
        <p:spPr>
          <a:xfrm>
            <a:off x="9076313" y="7491725"/>
            <a:ext cx="269288" cy="230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endParaRPr lang="en-IN" b="1" dirty="0"/>
          </a:p>
        </p:txBody>
      </p:sp>
      <p:sp>
        <p:nvSpPr>
          <p:cNvPr id="3140" name="Oval 3139">
            <a:extLst>
              <a:ext uri="{FF2B5EF4-FFF2-40B4-BE49-F238E27FC236}">
                <a16:creationId xmlns:a16="http://schemas.microsoft.com/office/drawing/2014/main" id="{C9D34C96-AC7D-E8F4-B18B-6100AE1D9FF3}"/>
              </a:ext>
            </a:extLst>
          </p:cNvPr>
          <p:cNvSpPr/>
          <p:nvPr/>
        </p:nvSpPr>
        <p:spPr>
          <a:xfrm>
            <a:off x="9029830" y="6351800"/>
            <a:ext cx="269288" cy="230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endParaRPr lang="en-IN" b="1" dirty="0"/>
          </a:p>
        </p:txBody>
      </p:sp>
      <p:sp>
        <p:nvSpPr>
          <p:cNvPr id="3148" name="Rectangle 3147">
            <a:extLst>
              <a:ext uri="{FF2B5EF4-FFF2-40B4-BE49-F238E27FC236}">
                <a16:creationId xmlns:a16="http://schemas.microsoft.com/office/drawing/2014/main" id="{6BC51872-A5A6-8887-7488-7EF6E3305EBE}"/>
              </a:ext>
            </a:extLst>
          </p:cNvPr>
          <p:cNvSpPr/>
          <p:nvPr/>
        </p:nvSpPr>
        <p:spPr>
          <a:xfrm>
            <a:off x="15697200" y="8953500"/>
            <a:ext cx="2209800" cy="1002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41" name="Oval 3140">
            <a:extLst>
              <a:ext uri="{FF2B5EF4-FFF2-40B4-BE49-F238E27FC236}">
                <a16:creationId xmlns:a16="http://schemas.microsoft.com/office/drawing/2014/main" id="{7680A289-5048-2F34-EDBD-E39CDF1F8464}"/>
              </a:ext>
            </a:extLst>
          </p:cNvPr>
          <p:cNvSpPr/>
          <p:nvPr/>
        </p:nvSpPr>
        <p:spPr>
          <a:xfrm>
            <a:off x="11548045" y="7487974"/>
            <a:ext cx="269288" cy="230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endParaRPr lang="en-IN" b="1" dirty="0"/>
          </a:p>
        </p:txBody>
      </p:sp>
      <p:sp>
        <p:nvSpPr>
          <p:cNvPr id="3142" name="Oval 3141">
            <a:extLst>
              <a:ext uri="{FF2B5EF4-FFF2-40B4-BE49-F238E27FC236}">
                <a16:creationId xmlns:a16="http://schemas.microsoft.com/office/drawing/2014/main" id="{A54E9599-8EF4-946C-E49D-8187827F82BB}"/>
              </a:ext>
            </a:extLst>
          </p:cNvPr>
          <p:cNvSpPr/>
          <p:nvPr/>
        </p:nvSpPr>
        <p:spPr>
          <a:xfrm>
            <a:off x="15773400" y="9323201"/>
            <a:ext cx="269288" cy="230075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</a:t>
            </a:r>
            <a:endParaRPr lang="en-IN" b="1" dirty="0"/>
          </a:p>
        </p:txBody>
      </p:sp>
      <p:sp>
        <p:nvSpPr>
          <p:cNvPr id="3143" name="Oval 3142">
            <a:extLst>
              <a:ext uri="{FF2B5EF4-FFF2-40B4-BE49-F238E27FC236}">
                <a16:creationId xmlns:a16="http://schemas.microsoft.com/office/drawing/2014/main" id="{14D8B8A2-34F5-CF83-4B65-8A5F0291AFB6}"/>
              </a:ext>
            </a:extLst>
          </p:cNvPr>
          <p:cNvSpPr/>
          <p:nvPr/>
        </p:nvSpPr>
        <p:spPr>
          <a:xfrm>
            <a:off x="15789116" y="9677911"/>
            <a:ext cx="269288" cy="2300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  <a:endParaRPr lang="en-IN" b="1" dirty="0"/>
          </a:p>
        </p:txBody>
      </p:sp>
      <p:sp>
        <p:nvSpPr>
          <p:cNvPr id="3144" name="TextBox 3143">
            <a:extLst>
              <a:ext uri="{FF2B5EF4-FFF2-40B4-BE49-F238E27FC236}">
                <a16:creationId xmlns:a16="http://schemas.microsoft.com/office/drawing/2014/main" id="{560931B6-0709-7036-5CAB-9AA0A13F6EAE}"/>
              </a:ext>
            </a:extLst>
          </p:cNvPr>
          <p:cNvSpPr txBox="1"/>
          <p:nvPr/>
        </p:nvSpPr>
        <p:spPr>
          <a:xfrm>
            <a:off x="16078848" y="9679239"/>
            <a:ext cx="1704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Automated process</a:t>
            </a:r>
            <a:endParaRPr lang="en-IN" sz="1200" b="1" dirty="0"/>
          </a:p>
        </p:txBody>
      </p:sp>
      <p:sp>
        <p:nvSpPr>
          <p:cNvPr id="3145" name="TextBox 3144">
            <a:extLst>
              <a:ext uri="{FF2B5EF4-FFF2-40B4-BE49-F238E27FC236}">
                <a16:creationId xmlns:a16="http://schemas.microsoft.com/office/drawing/2014/main" id="{2145911E-9481-F6DB-F943-E6A6C7BBCF2B}"/>
              </a:ext>
            </a:extLst>
          </p:cNvPr>
          <p:cNvSpPr txBox="1"/>
          <p:nvPr/>
        </p:nvSpPr>
        <p:spPr>
          <a:xfrm>
            <a:off x="16078200" y="9284078"/>
            <a:ext cx="1774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Human Intervention + AI</a:t>
            </a:r>
            <a:endParaRPr lang="en-IN" sz="1200" b="1" dirty="0"/>
          </a:p>
        </p:txBody>
      </p:sp>
      <p:sp>
        <p:nvSpPr>
          <p:cNvPr id="3146" name="Rectangle: Rounded Corners 3145">
            <a:extLst>
              <a:ext uri="{FF2B5EF4-FFF2-40B4-BE49-F238E27FC236}">
                <a16:creationId xmlns:a16="http://schemas.microsoft.com/office/drawing/2014/main" id="{C8CD3273-590D-3E8E-D4DA-094F2834CBB6}"/>
              </a:ext>
            </a:extLst>
          </p:cNvPr>
          <p:cNvSpPr/>
          <p:nvPr/>
        </p:nvSpPr>
        <p:spPr>
          <a:xfrm>
            <a:off x="15773400" y="9041596"/>
            <a:ext cx="285004" cy="136346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47" name="TextBox 3146">
            <a:extLst>
              <a:ext uri="{FF2B5EF4-FFF2-40B4-BE49-F238E27FC236}">
                <a16:creationId xmlns:a16="http://schemas.microsoft.com/office/drawing/2014/main" id="{331BF29D-8BAF-98F2-EA8E-6C32D5CAEC11}"/>
              </a:ext>
            </a:extLst>
          </p:cNvPr>
          <p:cNvSpPr txBox="1"/>
          <p:nvPr/>
        </p:nvSpPr>
        <p:spPr>
          <a:xfrm>
            <a:off x="16078200" y="8971269"/>
            <a:ext cx="17746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Fully Automated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890810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DD70-23C2-66E7-E0E4-E11373DF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ight Brace 23">
            <a:extLst>
              <a:ext uri="{FF2B5EF4-FFF2-40B4-BE49-F238E27FC236}">
                <a16:creationId xmlns:a16="http://schemas.microsoft.com/office/drawing/2014/main" id="{76ACEAA2-DE9B-0085-D499-84C5B52733C4}"/>
              </a:ext>
            </a:extLst>
          </p:cNvPr>
          <p:cNvSpPr/>
          <p:nvPr/>
        </p:nvSpPr>
        <p:spPr>
          <a:xfrm>
            <a:off x="13961019" y="3313957"/>
            <a:ext cx="646373" cy="4100032"/>
          </a:xfrm>
          <a:prstGeom prst="rightBrace">
            <a:avLst>
              <a:gd name="adj1" fmla="val 16826"/>
              <a:gd name="adj2" fmla="val 5018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556F30-C662-3DD9-ECE0-68AA058F03FE}"/>
              </a:ext>
            </a:extLst>
          </p:cNvPr>
          <p:cNvSpPr/>
          <p:nvPr/>
        </p:nvSpPr>
        <p:spPr>
          <a:xfrm>
            <a:off x="457200" y="1471995"/>
            <a:ext cx="13688371" cy="333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209202-CE92-4201-E8A2-762C6B02899F}"/>
              </a:ext>
            </a:extLst>
          </p:cNvPr>
          <p:cNvSpPr/>
          <p:nvPr/>
        </p:nvSpPr>
        <p:spPr>
          <a:xfrm>
            <a:off x="457200" y="5123796"/>
            <a:ext cx="7636759" cy="3573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PRE – ARIRAS </a:t>
            </a:r>
            <a:r>
              <a:rPr lang="en-US" b="1" dirty="0">
                <a:solidFill>
                  <a:srgbClr val="7030A0"/>
                </a:solidFill>
              </a:rPr>
              <a:t>- Baseline (Time Mapping) – </a:t>
            </a:r>
          </a:p>
          <a:p>
            <a:r>
              <a:rPr lang="en-US" b="1" dirty="0">
                <a:solidFill>
                  <a:srgbClr val="7030A0"/>
                </a:solidFill>
              </a:rPr>
              <a:t> 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A7E817E1-957C-D495-BF86-5DBAC47F7BB9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C29BF-454E-7E87-BBAB-64CF68D19F68}"/>
              </a:ext>
            </a:extLst>
          </p:cNvPr>
          <p:cNvSpPr txBox="1"/>
          <p:nvPr/>
        </p:nvSpPr>
        <p:spPr>
          <a:xfrm>
            <a:off x="270933" y="198231"/>
            <a:ext cx="9144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Enterprise Level Impact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2C1150-7B30-0963-F4E3-26C429CEFE15}"/>
              </a:ext>
            </a:extLst>
          </p:cNvPr>
          <p:cNvSpPr/>
          <p:nvPr/>
        </p:nvSpPr>
        <p:spPr>
          <a:xfrm>
            <a:off x="788366" y="2018557"/>
            <a:ext cx="2893024" cy="2590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Dedicated Team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CC6142A-A6D3-F448-0CF7-A41729D77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25251"/>
              </p:ext>
            </p:extLst>
          </p:nvPr>
        </p:nvGraphicFramePr>
        <p:xfrm>
          <a:off x="1129978" y="2493537"/>
          <a:ext cx="2209800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4134">
                  <a:extLst>
                    <a:ext uri="{9D8B030D-6E8A-4147-A177-3AD203B41FA5}">
                      <a16:colId xmlns:a16="http://schemas.microsoft.com/office/drawing/2014/main" val="149786203"/>
                    </a:ext>
                  </a:extLst>
                </a:gridCol>
                <a:gridCol w="375666">
                  <a:extLst>
                    <a:ext uri="{9D8B030D-6E8A-4147-A177-3AD203B41FA5}">
                      <a16:colId xmlns:a16="http://schemas.microsoft.com/office/drawing/2014/main" val="359695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Analysts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649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Seniors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27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Managers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490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Senior Managers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98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PPMD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577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475F95-DFDA-2B97-E224-21CB87C6059B}"/>
              </a:ext>
            </a:extLst>
          </p:cNvPr>
          <p:cNvSpPr/>
          <p:nvPr/>
        </p:nvSpPr>
        <p:spPr>
          <a:xfrm>
            <a:off x="3877411" y="2018557"/>
            <a:ext cx="2893024" cy="2590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D7D7C-1916-6664-18D2-0A12B3287025}"/>
              </a:ext>
            </a:extLst>
          </p:cNvPr>
          <p:cNvSpPr/>
          <p:nvPr/>
        </p:nvSpPr>
        <p:spPr>
          <a:xfrm>
            <a:off x="3877411" y="1978972"/>
            <a:ext cx="2775779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Average Blended Cost Per Compliance FTE</a:t>
            </a:r>
          </a:p>
          <a:p>
            <a:endParaRPr lang="en-US" b="1" dirty="0"/>
          </a:p>
          <a:p>
            <a:r>
              <a:rPr lang="en-US" dirty="0"/>
              <a:t>-  25 Lakhs/Year</a:t>
            </a:r>
          </a:p>
          <a:p>
            <a:r>
              <a:rPr lang="en-US" dirty="0"/>
              <a:t>-  ( ~ 1200 hours)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5ACE3-0AB3-56FF-6D22-8F1EF07EDB00}"/>
              </a:ext>
            </a:extLst>
          </p:cNvPr>
          <p:cNvSpPr/>
          <p:nvPr/>
        </p:nvSpPr>
        <p:spPr>
          <a:xfrm>
            <a:off x="6954268" y="2018557"/>
            <a:ext cx="6996491" cy="2590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4778E-C246-0F0A-8914-2FA9D997B8F9}"/>
              </a:ext>
            </a:extLst>
          </p:cNvPr>
          <p:cNvSpPr/>
          <p:nvPr/>
        </p:nvSpPr>
        <p:spPr>
          <a:xfrm>
            <a:off x="7039805" y="2247157"/>
            <a:ext cx="3516370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7030A0"/>
                </a:solidFill>
              </a:rPr>
              <a:t>Team Diversification</a:t>
            </a:r>
            <a:endParaRPr lang="en-US" b="1" dirty="0"/>
          </a:p>
          <a:p>
            <a:pPr marL="285750" indent="-285750">
              <a:buFontTx/>
              <a:buChar char="-"/>
            </a:pPr>
            <a:r>
              <a:rPr lang="en-US" b="1" dirty="0"/>
              <a:t>Blend of </a:t>
            </a:r>
          </a:p>
          <a:p>
            <a:pPr marL="285750" indent="-285750">
              <a:buFontTx/>
              <a:buChar char="-"/>
            </a:pPr>
            <a:endParaRPr lang="en-US" b="1" dirty="0"/>
          </a:p>
          <a:p>
            <a:pPr marL="285750" indent="-285750">
              <a:buFontTx/>
              <a:buChar char="-"/>
            </a:pPr>
            <a:endParaRPr lang="en-US" b="1" dirty="0"/>
          </a:p>
          <a:p>
            <a:pPr marL="285750" indent="-285750">
              <a:buFontTx/>
              <a:buChar char="-"/>
            </a:pPr>
            <a:endParaRPr lang="en-US" b="1" dirty="0"/>
          </a:p>
          <a:p>
            <a:pPr marL="285750" indent="-285750">
              <a:buFontTx/>
              <a:buChar char="-"/>
            </a:pPr>
            <a:endParaRPr lang="en-US" b="1" dirty="0"/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DDC23F9-5C91-FA96-5135-B287543C6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023064"/>
              </p:ext>
            </p:extLst>
          </p:nvPr>
        </p:nvGraphicFramePr>
        <p:xfrm>
          <a:off x="650645" y="5664464"/>
          <a:ext cx="7342385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4185">
                  <a:extLst>
                    <a:ext uri="{9D8B030D-6E8A-4147-A177-3AD203B41FA5}">
                      <a16:colId xmlns:a16="http://schemas.microsoft.com/office/drawing/2014/main" val="705598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317023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9437605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 per Regulation ( per FTE)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Who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2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Regulatory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12 - 16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Legal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9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Mapping to business 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25 - 30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01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drafting /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30 - 40 </a:t>
                      </a:r>
                      <a:r>
                        <a:rPr lang="en-US" dirty="0" err="1"/>
                        <a:t>hrs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Legal + 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886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Gap assessment +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25 - 30 hrs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Internal audit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38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Total</a:t>
                      </a:r>
                      <a:endParaRPr lang="en-IN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100 – 120 hours/regulation</a:t>
                      </a:r>
                      <a:endParaRPr lang="en-IN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35195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07AB679-D1B8-9C97-D89F-F39B82C2C39C}"/>
              </a:ext>
            </a:extLst>
          </p:cNvPr>
          <p:cNvSpPr/>
          <p:nvPr/>
        </p:nvSpPr>
        <p:spPr>
          <a:xfrm>
            <a:off x="8270645" y="5112200"/>
            <a:ext cx="5874926" cy="3585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POST – ARIRAS </a:t>
            </a:r>
            <a:r>
              <a:rPr lang="en-US" b="1" dirty="0">
                <a:solidFill>
                  <a:srgbClr val="7030A0"/>
                </a:solidFill>
              </a:rPr>
              <a:t>- Baseline (Time Mapping) – </a:t>
            </a: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>
              <a:solidFill>
                <a:srgbClr val="7030A0"/>
              </a:solidFill>
            </a:endParaRP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7FD7844-21DE-769A-1E76-A85AF3B72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433897"/>
              </p:ext>
            </p:extLst>
          </p:nvPr>
        </p:nvGraphicFramePr>
        <p:xfrm>
          <a:off x="8447331" y="5618744"/>
          <a:ext cx="5521554" cy="2834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1337">
                  <a:extLst>
                    <a:ext uri="{9D8B030D-6E8A-4147-A177-3AD203B41FA5}">
                      <a16:colId xmlns:a16="http://schemas.microsoft.com/office/drawing/2014/main" val="70559895"/>
                    </a:ext>
                  </a:extLst>
                </a:gridCol>
                <a:gridCol w="2930217">
                  <a:extLst>
                    <a:ext uri="{9D8B030D-6E8A-4147-A177-3AD203B41FA5}">
                      <a16:colId xmlns:a16="http://schemas.microsoft.com/office/drawing/2014/main" val="1131702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Time per Regulation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2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AI-assisted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2 - 3 hrs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9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Auto-mapping +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10 - 15 hrs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01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Guided policy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1 -2 </a:t>
                      </a:r>
                      <a:r>
                        <a:rPr lang="en-US" dirty="0" err="1"/>
                        <a:t>hrs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886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Policy Drafting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15 -20 </a:t>
                      </a:r>
                      <a:r>
                        <a:rPr lang="en-US" dirty="0" err="1"/>
                        <a:t>hrs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38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Automated gap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  <a:r>
                        <a:rPr lang="en-IN" dirty="0"/>
                        <a:t> - 3 hrs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227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Total</a:t>
                      </a:r>
                      <a:endParaRPr lang="en-IN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30 – 50 hours/regulation</a:t>
                      </a:r>
                      <a:endParaRPr lang="en-IN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35195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AB81272B-FB90-7355-5FE1-6E9D8E27895F}"/>
              </a:ext>
            </a:extLst>
          </p:cNvPr>
          <p:cNvSpPr/>
          <p:nvPr/>
        </p:nvSpPr>
        <p:spPr>
          <a:xfrm>
            <a:off x="7243078" y="2518367"/>
            <a:ext cx="1871133" cy="1716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Regulatory Compliance Officers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DF9809-49BA-1252-35D0-2AFC680ED79D}"/>
              </a:ext>
            </a:extLst>
          </p:cNvPr>
          <p:cNvSpPr/>
          <p:nvPr/>
        </p:nvSpPr>
        <p:spPr>
          <a:xfrm>
            <a:off x="8928914" y="2314135"/>
            <a:ext cx="1247131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Prompt Engineers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EDF4B2-2802-EC4B-41C0-722983FA66E1}"/>
              </a:ext>
            </a:extLst>
          </p:cNvPr>
          <p:cNvSpPr/>
          <p:nvPr/>
        </p:nvSpPr>
        <p:spPr>
          <a:xfrm>
            <a:off x="10434760" y="2300218"/>
            <a:ext cx="1460215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Coders and Tech folks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45B63B-AB27-5F2B-C55D-00F488221DEE}"/>
              </a:ext>
            </a:extLst>
          </p:cNvPr>
          <p:cNvSpPr/>
          <p:nvPr/>
        </p:nvSpPr>
        <p:spPr>
          <a:xfrm>
            <a:off x="12089787" y="2329649"/>
            <a:ext cx="1994086" cy="190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Legal Team to verify the policy documents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FD0A1C-FD57-3C72-9871-823084D95358}"/>
              </a:ext>
            </a:extLst>
          </p:cNvPr>
          <p:cNvCxnSpPr/>
          <p:nvPr/>
        </p:nvCxnSpPr>
        <p:spPr>
          <a:xfrm>
            <a:off x="8651645" y="3033608"/>
            <a:ext cx="0" cy="685800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32F40C-60B4-113B-58A0-B6170B5AE375}"/>
              </a:ext>
            </a:extLst>
          </p:cNvPr>
          <p:cNvCxnSpPr/>
          <p:nvPr/>
        </p:nvCxnSpPr>
        <p:spPr>
          <a:xfrm>
            <a:off x="10177414" y="2983601"/>
            <a:ext cx="0" cy="685800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08F5FBD-ECBF-D849-1AC9-D62D1995DA81}"/>
              </a:ext>
            </a:extLst>
          </p:cNvPr>
          <p:cNvCxnSpPr/>
          <p:nvPr/>
        </p:nvCxnSpPr>
        <p:spPr>
          <a:xfrm>
            <a:off x="11852045" y="2941576"/>
            <a:ext cx="0" cy="685800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C4C4A42-01A9-6962-AC95-DCB0D0E87FF8}"/>
              </a:ext>
            </a:extLst>
          </p:cNvPr>
          <p:cNvGrpSpPr/>
          <p:nvPr/>
        </p:nvGrpSpPr>
        <p:grpSpPr>
          <a:xfrm>
            <a:off x="14663310" y="3141664"/>
            <a:ext cx="3475881" cy="4444618"/>
            <a:chOff x="14812119" y="1947877"/>
            <a:chExt cx="3475881" cy="444461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2E158E4-442E-2081-34B1-ED825BB9E913}"/>
                </a:ext>
              </a:extLst>
            </p:cNvPr>
            <p:cNvGrpSpPr/>
            <p:nvPr/>
          </p:nvGrpSpPr>
          <p:grpSpPr>
            <a:xfrm>
              <a:off x="14812119" y="1947877"/>
              <a:ext cx="3399681" cy="4444618"/>
              <a:chOff x="14812119" y="1947877"/>
              <a:chExt cx="3399681" cy="444461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D46A1D9-C10C-B301-F1FD-6E0F86981425}"/>
                  </a:ext>
                </a:extLst>
              </p:cNvPr>
              <p:cNvSpPr/>
              <p:nvPr/>
            </p:nvSpPr>
            <p:spPr>
              <a:xfrm>
                <a:off x="14812119" y="4695142"/>
                <a:ext cx="3399681" cy="783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EBE12C4-8EDD-78E3-692B-898B38CF276D}"/>
                  </a:ext>
                </a:extLst>
              </p:cNvPr>
              <p:cNvSpPr/>
              <p:nvPr/>
            </p:nvSpPr>
            <p:spPr>
              <a:xfrm>
                <a:off x="14812119" y="5609039"/>
                <a:ext cx="3399681" cy="783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0112CC3-9D41-48A4-47FD-EB66B52C4005}"/>
                  </a:ext>
                </a:extLst>
              </p:cNvPr>
              <p:cNvSpPr/>
              <p:nvPr/>
            </p:nvSpPr>
            <p:spPr>
              <a:xfrm>
                <a:off x="14812119" y="2864561"/>
                <a:ext cx="3399681" cy="783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AC027A7-D098-908F-26DA-D77B6B4B520B}"/>
                  </a:ext>
                </a:extLst>
              </p:cNvPr>
              <p:cNvSpPr/>
              <p:nvPr/>
            </p:nvSpPr>
            <p:spPr>
              <a:xfrm>
                <a:off x="14812119" y="3781245"/>
                <a:ext cx="3399681" cy="783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C73D5F4-9617-1A2B-F254-5A6F223F77B0}"/>
                  </a:ext>
                </a:extLst>
              </p:cNvPr>
              <p:cNvSpPr/>
              <p:nvPr/>
            </p:nvSpPr>
            <p:spPr>
              <a:xfrm>
                <a:off x="14812119" y="1947877"/>
                <a:ext cx="3399681" cy="78345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5BB84CE-E999-1217-ECF7-3BEC6C38A860}"/>
                </a:ext>
              </a:extLst>
            </p:cNvPr>
            <p:cNvSpPr txBox="1"/>
            <p:nvPr/>
          </p:nvSpPr>
          <p:spPr>
            <a:xfrm>
              <a:off x="14856884" y="1979016"/>
              <a:ext cx="3431116" cy="440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dk1"/>
                  </a:solidFill>
                </a:rPr>
                <a:t>- Time saved per regulation:</a:t>
              </a:r>
              <a:br>
                <a:rPr lang="en-US" sz="2000" dirty="0">
                  <a:solidFill>
                    <a:schemeClr val="dk1"/>
                  </a:solidFill>
                </a:rPr>
              </a:br>
              <a:r>
                <a:rPr lang="en-US" sz="2000" dirty="0">
                  <a:solidFill>
                    <a:schemeClr val="dk1"/>
                  </a:solidFill>
                </a:rPr>
                <a:t>→ 100 – 30 = 70 hours</a:t>
              </a:r>
            </a:p>
            <a:p>
              <a:r>
                <a:rPr lang="en-US" sz="2000" dirty="0">
                  <a:solidFill>
                    <a:schemeClr val="dk1"/>
                  </a:solidFill>
                </a:rPr>
                <a:t> </a:t>
              </a:r>
            </a:p>
            <a:p>
              <a:r>
                <a:rPr lang="en-US" sz="2000" b="1" dirty="0">
                  <a:solidFill>
                    <a:schemeClr val="dk1"/>
                  </a:solidFill>
                </a:rPr>
                <a:t>- Annual volume:</a:t>
              </a:r>
              <a:br>
                <a:rPr lang="en-US" sz="2000" dirty="0">
                  <a:solidFill>
                    <a:schemeClr val="dk1"/>
                  </a:solidFill>
                </a:rPr>
              </a:br>
              <a:r>
                <a:rPr lang="en-US" sz="2000" dirty="0">
                  <a:solidFill>
                    <a:schemeClr val="dk1"/>
                  </a:solidFill>
                </a:rPr>
                <a:t>→ 100 regulations </a:t>
              </a:r>
            </a:p>
            <a:p>
              <a:endParaRPr lang="en-US" sz="2000" dirty="0">
                <a:solidFill>
                  <a:schemeClr val="dk1"/>
                </a:solidFill>
              </a:endParaRPr>
            </a:p>
            <a:p>
              <a:pPr>
                <a:buNone/>
              </a:pPr>
              <a:r>
                <a:rPr lang="en-US" sz="2000" b="1" dirty="0">
                  <a:solidFill>
                    <a:schemeClr val="dk1"/>
                  </a:solidFill>
                </a:rPr>
                <a:t>👉 Total time saved:</a:t>
              </a:r>
              <a:br>
                <a:rPr lang="en-US" sz="2000" dirty="0">
                  <a:solidFill>
                    <a:schemeClr val="dk1"/>
                  </a:solidFill>
                </a:rPr>
              </a:br>
              <a:r>
                <a:rPr lang="en-US" sz="2000" dirty="0">
                  <a:solidFill>
                    <a:schemeClr val="dk1"/>
                  </a:solidFill>
                </a:rPr>
                <a:t>→ 70 × 100 = 7,000 hours/year</a:t>
              </a:r>
            </a:p>
            <a:p>
              <a:pPr>
                <a:buNone/>
              </a:pPr>
              <a:endParaRPr lang="en-US" sz="2000" dirty="0">
                <a:solidFill>
                  <a:schemeClr val="dk1"/>
                </a:solidFill>
              </a:endParaRPr>
            </a:p>
            <a:p>
              <a:pPr marL="342900" indent="-342900">
                <a:buFontTx/>
                <a:buChar char="-"/>
              </a:pPr>
              <a:r>
                <a:rPr lang="en-US" sz="2000" b="1" dirty="0">
                  <a:solidFill>
                    <a:schemeClr val="dk1"/>
                  </a:solidFill>
                </a:rPr>
                <a:t>Cost Impact</a:t>
              </a:r>
            </a:p>
            <a:p>
              <a:r>
                <a:rPr lang="en-US" sz="2000" dirty="0">
                  <a:solidFill>
                    <a:schemeClr val="dk1"/>
                  </a:solidFill>
                </a:rPr>
                <a:t>→ 1200 INR * 7000 Hours</a:t>
              </a:r>
            </a:p>
            <a:p>
              <a:pPr marL="342900" indent="-342900">
                <a:buFontTx/>
                <a:buChar char="-"/>
              </a:pPr>
              <a:endParaRPr lang="en-US" sz="2000" dirty="0">
                <a:solidFill>
                  <a:schemeClr val="dk1"/>
                </a:solidFill>
              </a:endParaRPr>
            </a:p>
            <a:p>
              <a:r>
                <a:rPr lang="en-US" sz="2000" b="1" dirty="0">
                  <a:solidFill>
                    <a:schemeClr val="dk1"/>
                  </a:solidFill>
                </a:rPr>
                <a:t>Annual Savings</a:t>
              </a:r>
            </a:p>
            <a:p>
              <a:r>
                <a:rPr lang="en-US" sz="2000" dirty="0">
                  <a:solidFill>
                    <a:schemeClr val="dk1"/>
                  </a:solidFill>
                </a:rPr>
                <a:t>→</a:t>
              </a:r>
              <a:r>
                <a:rPr lang="en-IN" sz="2000" dirty="0"/>
                <a:t> ₹84,00,000</a:t>
              </a:r>
              <a:endParaRPr lang="en-US" sz="2000" b="1" dirty="0">
                <a:solidFill>
                  <a:schemeClr val="dk1"/>
                </a:solidFill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93ABFE4-3550-0DDA-084F-05E69FE9CA43}"/>
              </a:ext>
            </a:extLst>
          </p:cNvPr>
          <p:cNvSpPr txBox="1"/>
          <p:nvPr/>
        </p:nvSpPr>
        <p:spPr>
          <a:xfrm>
            <a:off x="14401800" y="697776"/>
            <a:ext cx="12110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conservative enterprise estimate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348BDE-FC76-6D75-F4ED-A50BFF22341F}"/>
              </a:ext>
            </a:extLst>
          </p:cNvPr>
          <p:cNvSpPr/>
          <p:nvPr/>
        </p:nvSpPr>
        <p:spPr>
          <a:xfrm>
            <a:off x="568555" y="9255951"/>
            <a:ext cx="17414645" cy="557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At enterprise scale, compliance inefficiency is not a cost problem -  it is a multi-crore risk exposure</a:t>
            </a:r>
            <a:endParaRPr lang="en-IN" sz="2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5553DD7-EA5C-71AA-399B-8C13419E61C7}"/>
              </a:ext>
            </a:extLst>
          </p:cNvPr>
          <p:cNvSpPr txBox="1"/>
          <p:nvPr/>
        </p:nvSpPr>
        <p:spPr>
          <a:xfrm>
            <a:off x="14663310" y="7904955"/>
            <a:ext cx="33996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000" b="1" dirty="0">
                <a:solidFill>
                  <a:srgbClr val="C00000"/>
                </a:solidFill>
              </a:rPr>
              <a:t>3.5x efficiency gain</a:t>
            </a:r>
          </a:p>
          <a:p>
            <a:r>
              <a:rPr lang="en-IN" sz="2000" b="1" dirty="0">
                <a:solidFill>
                  <a:srgbClr val="C00000"/>
                </a:solidFill>
              </a:rPr>
              <a:t>For a team of 14 members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647346-948E-90EF-5832-52B795654247}"/>
              </a:ext>
            </a:extLst>
          </p:cNvPr>
          <p:cNvSpPr txBox="1"/>
          <p:nvPr/>
        </p:nvSpPr>
        <p:spPr>
          <a:xfrm>
            <a:off x="731801" y="155907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 - Considerations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6C8B0-7F7F-2D2F-C973-B645BE539C93}"/>
              </a:ext>
            </a:extLst>
          </p:cNvPr>
          <p:cNvSpPr txBox="1"/>
          <p:nvPr/>
        </p:nvSpPr>
        <p:spPr>
          <a:xfrm>
            <a:off x="7050975" y="9846888"/>
            <a:ext cx="7010400" cy="36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by Team Token Burners  - Harreet &amp; Pragun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00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4957-5E30-8AB2-5A71-9C2A97BAA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78D854EF-3428-FDA3-5C04-4EA2FFE803A8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29CC2-7F21-4E3B-05C4-440994AAC1B5}"/>
              </a:ext>
            </a:extLst>
          </p:cNvPr>
          <p:cNvSpPr txBox="1"/>
          <p:nvPr/>
        </p:nvSpPr>
        <p:spPr>
          <a:xfrm>
            <a:off x="-1752600" y="165849"/>
            <a:ext cx="115824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Entire Model – USER FLOW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BDB5DE59-BE64-E14C-753F-56889D87B8EE}"/>
              </a:ext>
            </a:extLst>
          </p:cNvPr>
          <p:cNvSpPr txBox="1"/>
          <p:nvPr/>
        </p:nvSpPr>
        <p:spPr>
          <a:xfrm>
            <a:off x="11582400" y="3627239"/>
            <a:ext cx="3086100" cy="324592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23D85-CF1B-7138-A83D-C20FF2FFD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806"/>
          <a:stretch>
            <a:fillRect/>
          </a:stretch>
        </p:blipFill>
        <p:spPr>
          <a:xfrm>
            <a:off x="0" y="1140988"/>
            <a:ext cx="18288000" cy="9146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D3F5CF-6AF3-046D-01B7-2CA905AE007E}"/>
              </a:ext>
            </a:extLst>
          </p:cNvPr>
          <p:cNvSpPr txBox="1"/>
          <p:nvPr/>
        </p:nvSpPr>
        <p:spPr>
          <a:xfrm>
            <a:off x="7010400" y="9751299"/>
            <a:ext cx="7010400" cy="36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by Team Token Burners  - Harreet &amp; Pragun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108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83A5-4F8F-C674-99AB-ACDB4F55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FF2B5EF4-FFF2-40B4-BE49-F238E27FC236}">
                <a16:creationId xmlns:a16="http://schemas.microsoft.com/office/drawing/2014/main" id="{37A69140-2D4B-E2CE-6B76-2B82FD505118}"/>
              </a:ext>
            </a:extLst>
          </p:cNvPr>
          <p:cNvSpPr/>
          <p:nvPr/>
        </p:nvSpPr>
        <p:spPr>
          <a:xfrm>
            <a:off x="304800" y="190501"/>
            <a:ext cx="17678400" cy="990600"/>
          </a:xfrm>
          <a:custGeom>
            <a:avLst/>
            <a:gdLst/>
            <a:ahLst/>
            <a:cxnLst/>
            <a:rect l="l" t="t" r="r" b="b"/>
            <a:pathLst>
              <a:path w="11589850" h="2119101">
                <a:moveTo>
                  <a:pt x="0" y="0"/>
                </a:moveTo>
                <a:lnTo>
                  <a:pt x="11589850" y="0"/>
                </a:lnTo>
                <a:lnTo>
                  <a:pt x="11589850" y="2119100"/>
                </a:lnTo>
                <a:lnTo>
                  <a:pt x="0" y="21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3BC21-D0F1-C981-075A-40575AC0A677}"/>
              </a:ext>
            </a:extLst>
          </p:cNvPr>
          <p:cNvSpPr txBox="1"/>
          <p:nvPr/>
        </p:nvSpPr>
        <p:spPr>
          <a:xfrm>
            <a:off x="-1905000" y="206196"/>
            <a:ext cx="15621000" cy="97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85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Architecture </a:t>
            </a:r>
            <a:r>
              <a:rPr lang="en-US" sz="2000" dirty="0">
                <a:latin typeface="Anton"/>
                <a:ea typeface="Anton"/>
                <a:cs typeface="Anton"/>
                <a:sym typeface="Anton"/>
              </a:rPr>
              <a:t>( For detailed architecture please refer to word doc attached)</a:t>
            </a:r>
            <a:endParaRPr lang="en-US" sz="4800" dirty="0"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EFC9E-D4D7-7CDC-678E-1C8F95B1B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9" y="1638299"/>
            <a:ext cx="18079182" cy="8458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B06E9-AC3A-B47D-6508-4FBAC043C332}"/>
              </a:ext>
            </a:extLst>
          </p:cNvPr>
          <p:cNvSpPr txBox="1"/>
          <p:nvPr/>
        </p:nvSpPr>
        <p:spPr>
          <a:xfrm>
            <a:off x="7010400" y="9751299"/>
            <a:ext cx="7010400" cy="367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by Team Token Burners  - Harreet &amp; Pragun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17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3114</TotalTime>
  <Words>881</Words>
  <Application>Microsoft Office PowerPoint</Application>
  <PresentationFormat>Custom</PresentationFormat>
  <Paragraphs>253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Anton</vt:lpstr>
      <vt:lpstr>Cambria Math</vt:lpstr>
      <vt:lpstr>DM Serif Display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Blue Gradient Modern Metaverse Futuristic Presentation</dc:title>
  <dc:creator>HP</dc:creator>
  <cp:lastModifiedBy>Harreet  Kaur</cp:lastModifiedBy>
  <cp:revision>22</cp:revision>
  <dcterms:created xsi:type="dcterms:W3CDTF">2006-08-16T00:00:00Z</dcterms:created>
  <dcterms:modified xsi:type="dcterms:W3CDTF">2026-03-25T18:20:55Z</dcterms:modified>
  <dc:identifier>DAHEaiQwJTs</dc:identifier>
</cp:coreProperties>
</file>