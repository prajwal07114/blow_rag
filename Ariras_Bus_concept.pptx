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80" r:id="rId3"/>
    <p:sldId id="281" r:id="rId4"/>
    <p:sldId id="274" r:id="rId5"/>
    <p:sldId id="275" r:id="rId6"/>
    <p:sldId id="278" r:id="rId7"/>
    <p:sldId id="276" r:id="rId8"/>
    <p:sldId id="279" r:id="rId9"/>
    <p:sldId id="277" r:id="rId10"/>
  </p:sldIdLst>
  <p:sldSz cx="18288000" cy="10287000"/>
  <p:notesSz cx="6858000" cy="9144000"/>
  <p:embeddedFontLst>
    <p:embeddedFont>
      <p:font typeface="Anton" pitchFamily="2" charset="0"/>
      <p:regular r:id="rId11"/>
    </p:embeddedFont>
    <p:embeddedFont>
      <p:font typeface="Cambria Math" panose="02040503050406030204" pitchFamily="18" charset="0"/>
      <p:regular r:id="rId12"/>
    </p:embeddedFont>
    <p:embeddedFont>
      <p:font typeface="georgia" panose="02040502050405020303" pitchFamily="18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imesofindia.indiatimes.com/gadgets-news/data-mismanagement-fines-10-companies-penalised-for-user-data-mishandling/photostory/100428002.cms?utm_source=chatgpt.com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csoonline.com/article/567531/the-biggest-data-breach-fines-penalties-and-settlements-so-far.html?utm_source=chatgpt.com" TargetMode="External"/><Relationship Id="rId4" Type="http://schemas.openxmlformats.org/officeDocument/2006/relationships/hyperlink" Target="https://www.compliancehub.wiki/impact-non-compliance-case-studies/?utm_source=chatgpt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22591" y="1077887"/>
            <a:ext cx="9782585" cy="6275413"/>
          </a:xfrm>
          <a:custGeom>
            <a:avLst/>
            <a:gdLst/>
            <a:ahLst/>
            <a:cxnLst/>
            <a:rect l="l" t="t" r="r" b="b"/>
            <a:pathLst>
              <a:path w="9782585" h="8229600">
                <a:moveTo>
                  <a:pt x="0" y="0"/>
                </a:moveTo>
                <a:lnTo>
                  <a:pt x="9782586" y="0"/>
                </a:lnTo>
                <a:lnTo>
                  <a:pt x="978258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>
            <a:off x="16813855" y="9068185"/>
            <a:ext cx="445445" cy="445445"/>
          </a:xfrm>
          <a:custGeom>
            <a:avLst/>
            <a:gdLst/>
            <a:ahLst/>
            <a:cxnLst/>
            <a:rect l="l" t="t" r="r" b="b"/>
            <a:pathLst>
              <a:path w="445445" h="445445">
                <a:moveTo>
                  <a:pt x="0" y="0"/>
                </a:moveTo>
                <a:lnTo>
                  <a:pt x="445445" y="0"/>
                </a:lnTo>
                <a:lnTo>
                  <a:pt x="445445" y="445444"/>
                </a:lnTo>
                <a:lnTo>
                  <a:pt x="0" y="4454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3761268" y="1866900"/>
            <a:ext cx="10505229" cy="2752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26"/>
              </a:lnSpc>
              <a:spcBef>
                <a:spcPct val="0"/>
              </a:spcBef>
            </a:pPr>
            <a:r>
              <a:rPr lang="en-US" sz="16090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ARIRAS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71553" y="4717652"/>
            <a:ext cx="9084657" cy="1268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Raleway"/>
                <a:cs typeface="Raleway"/>
                <a:sym typeface="Raleway"/>
              </a:rPr>
              <a:t>AI Regulatory Intelligence &amp;</a:t>
            </a:r>
          </a:p>
          <a:p>
            <a:pPr algn="ctr">
              <a:lnSpc>
                <a:spcPts val="512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Raleway"/>
                <a:cs typeface="Raleway"/>
                <a:sym typeface="Raleway"/>
              </a:rPr>
              <a:t>Reporting Assurance System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C7EFE23E-C5B0-70DA-EDC8-79DC7837754B}"/>
              </a:ext>
            </a:extLst>
          </p:cNvPr>
          <p:cNvSpPr txBox="1"/>
          <p:nvPr/>
        </p:nvSpPr>
        <p:spPr>
          <a:xfrm>
            <a:off x="4601671" y="7794159"/>
            <a:ext cx="9084657" cy="6259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Raleway"/>
                <a:cs typeface="Raleway"/>
                <a:sym typeface="Raleway"/>
              </a:rPr>
              <a:t>Concept By - Pragun &amp; Harreet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A5ADEC-9A84-4A26-6E0A-F4F8E15CA3C2}"/>
              </a:ext>
            </a:extLst>
          </p:cNvPr>
          <p:cNvSpPr txBox="1"/>
          <p:nvPr/>
        </p:nvSpPr>
        <p:spPr>
          <a:xfrm>
            <a:off x="7467600" y="9181899"/>
            <a:ext cx="9144000" cy="466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buNone/>
            </a:pPr>
            <a:r>
              <a:rPr lang="en-IN" sz="2400" b="1" i="0" dirty="0">
                <a:solidFill>
                  <a:schemeClr val="bg1"/>
                </a:solidFill>
                <a:effectLst/>
                <a:latin typeface="Inter"/>
              </a:rPr>
              <a:t>ET Gen AI </a:t>
            </a:r>
            <a:r>
              <a:rPr lang="en-IN" sz="2800" b="1" i="0" dirty="0">
                <a:solidFill>
                  <a:schemeClr val="bg1"/>
                </a:solidFill>
                <a:effectLst/>
                <a:latin typeface="Inter"/>
              </a:rPr>
              <a:t>Hackathon</a:t>
            </a:r>
            <a:r>
              <a:rPr lang="en-IN" sz="2400" b="1" i="0" dirty="0">
                <a:solidFill>
                  <a:schemeClr val="bg1"/>
                </a:solidFill>
                <a:effectLst/>
                <a:latin typeface="Inter"/>
              </a:rPr>
              <a:t> 2026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FFC9CD-B1B6-EF66-5B3C-B4A4954B9137}"/>
              </a:ext>
            </a:extLst>
          </p:cNvPr>
          <p:cNvSpPr txBox="1"/>
          <p:nvPr/>
        </p:nvSpPr>
        <p:spPr>
          <a:xfrm>
            <a:off x="8610600" y="9647924"/>
            <a:ext cx="9144000" cy="466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buNone/>
            </a:pPr>
            <a:r>
              <a:rPr lang="en-IN" sz="2400" b="1" i="0" dirty="0">
                <a:solidFill>
                  <a:schemeClr val="bg1"/>
                </a:solidFill>
                <a:effectLst/>
                <a:latin typeface="Inter"/>
              </a:rPr>
              <a:t>Unstop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2473B8-FB64-864D-D04D-7DDE931A3DE5}"/>
                  </a:ext>
                </a:extLst>
              </p:cNvPr>
              <p:cNvSpPr txBox="1"/>
              <p:nvPr/>
            </p:nvSpPr>
            <p:spPr>
              <a:xfrm>
                <a:off x="1041124" y="647701"/>
                <a:ext cx="17323076" cy="26272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3200" b="0" i="0" dirty="0">
                    <a:solidFill>
                      <a:srgbClr val="2E2E38"/>
                    </a:solidFill>
                    <a:effectLst/>
                    <a:latin typeface="georgia" panose="02040502050405020303" pitchFamily="18" charset="0"/>
                  </a:rPr>
                  <a:t>Nearly</a:t>
                </a:r>
                <a:r>
                  <a:rPr lang="en-US" sz="3600" b="0" i="0" dirty="0">
                    <a:solidFill>
                      <a:srgbClr val="2E2E38"/>
                    </a:solidFill>
                    <a:effectLst/>
                    <a:latin typeface="georgia" panose="02040502050405020303" pitchFamily="18" charset="0"/>
                  </a:rPr>
                  <a:t> </a:t>
                </a:r>
                <a:r>
                  <a:rPr lang="en-US" sz="6600" b="1" i="0" dirty="0">
                    <a:solidFill>
                      <a:srgbClr val="2E2E38"/>
                    </a:solidFill>
                    <a:effectLst/>
                    <a:latin typeface="georgia" panose="02040502050405020303" pitchFamily="18" charset="0"/>
                  </a:rPr>
                  <a:t>81% </a:t>
                </a:r>
                <a:r>
                  <a:rPr lang="en-US" sz="3200" i="0" dirty="0">
                    <a:solidFill>
                      <a:srgbClr val="2E2E38"/>
                    </a:solidFill>
                    <a:effectLst/>
                    <a:latin typeface="georgia" panose="02040502050405020303" pitchFamily="18" charset="0"/>
                  </a:rPr>
                  <a:t>Indian Enterprises </a:t>
                </a:r>
                <a:r>
                  <a:rPr lang="en-US" sz="3200" b="0" i="0" dirty="0">
                    <a:solidFill>
                      <a:srgbClr val="2E2E38"/>
                    </a:solidFill>
                    <a:effectLst/>
                    <a:latin typeface="georgia" panose="02040502050405020303" pitchFamily="18" charset="0"/>
                  </a:rPr>
                  <a:t>have not updated or drafted DPDP‑aligned privacy policies or governance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>
                            <a:solidFill>
                              <a:srgbClr val="2E2E38"/>
                            </a:solidFill>
                            <a:latin typeface="georgia" panose="02040502050405020303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i="0">
                            <a:solidFill>
                              <a:srgbClr val="2E2E38"/>
                            </a:solidFill>
                            <a:latin typeface="georgia" panose="02040502050405020303" pitchFamily="18" charset="0"/>
                          </a:rPr>
                          <m:t>framworks</m:t>
                        </m:r>
                      </m:e>
                      <m:sup>
                        <m:r>
                          <a:rPr lang="en-US" sz="3200" i="0">
                            <a:solidFill>
                              <a:srgbClr val="2E2E38"/>
                            </a:solidFill>
                            <a:latin typeface="georgia" panose="02040502050405020303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sz="3200" dirty="0">
                  <a:solidFill>
                    <a:srgbClr val="2E2E38"/>
                  </a:solidFill>
                  <a:latin typeface="georgia" panose="02040502050405020303" pitchFamily="18" charset="0"/>
                </a:endParaRPr>
              </a:p>
              <a:p>
                <a:r>
                  <a:rPr lang="en-US" sz="6600" b="1" dirty="0">
                    <a:solidFill>
                      <a:srgbClr val="2E2E38"/>
                    </a:solidFill>
                    <a:latin typeface="georgia" panose="02040502050405020303" pitchFamily="18" charset="0"/>
                  </a:rPr>
                  <a:t>83% </a:t>
                </a:r>
                <a:r>
                  <a:rPr lang="en-US" sz="3200" dirty="0">
                    <a:solidFill>
                      <a:srgbClr val="2E2E38"/>
                    </a:solidFill>
                    <a:latin typeface="georgia" panose="02040502050405020303" pitchFamily="18" charset="0"/>
                  </a:rPr>
                  <a:t>haven't even started end-to-end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solidFill>
                              <a:srgbClr val="2E2E3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rgbClr val="2E2E38"/>
                            </a:solidFill>
                            <a:latin typeface="Cambria Math" panose="02040503050406030204" pitchFamily="18" charset="0"/>
                          </a:rPr>
                          <m:t>implementation</m:t>
                        </m:r>
                      </m:e>
                      <m:sup>
                        <m:r>
                          <a:rPr lang="en-US" sz="3200">
                            <a:solidFill>
                              <a:srgbClr val="2E2E3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sz="3200" dirty="0">
                  <a:solidFill>
                    <a:srgbClr val="2E2E38"/>
                  </a:solidFill>
                  <a:latin typeface="georgia" panose="02040502050405020303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2473B8-FB64-864D-D04D-7DDE931A3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124" y="647701"/>
                <a:ext cx="17323076" cy="2627258"/>
              </a:xfrm>
              <a:prstGeom prst="rect">
                <a:avLst/>
              </a:prstGeom>
              <a:blipFill>
                <a:blip r:embed="rId2"/>
                <a:stretch>
                  <a:fillRect l="-2428" t="-8121" b="-167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3F8BAB-B9DE-E0CD-F8B3-6C532FBD7FBC}"/>
              </a:ext>
            </a:extLst>
          </p:cNvPr>
          <p:cNvSpPr/>
          <p:nvPr/>
        </p:nvSpPr>
        <p:spPr>
          <a:xfrm>
            <a:off x="457200" y="647701"/>
            <a:ext cx="17323076" cy="3046988"/>
          </a:xfrm>
          <a:prstGeom prst="roundRect">
            <a:avLst>
              <a:gd name="adj" fmla="val 0"/>
            </a:avLst>
          </a:prstGeom>
          <a:noFill/>
          <a:ln>
            <a:solidFill>
              <a:srgbClr val="7030A0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4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A59290-33C8-609D-26EE-B5BCC5C5501B}"/>
              </a:ext>
            </a:extLst>
          </p:cNvPr>
          <p:cNvSpPr txBox="1"/>
          <p:nvPr/>
        </p:nvSpPr>
        <p:spPr>
          <a:xfrm>
            <a:off x="228600" y="9454633"/>
            <a:ext cx="1371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1,2 - EY </a:t>
            </a:r>
            <a:r>
              <a:rPr lang="en-IN" i="1" dirty="0"/>
              <a:t>(https://www.ey.com/en_in/insights/cybersecurity/india-s-data-privacy-shift-steering-the-dpdp-compliance-and-readiness)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BAA3F9-5AF4-C20A-54C8-C7FDDBE1A46C}"/>
              </a:ext>
            </a:extLst>
          </p:cNvPr>
          <p:cNvSpPr txBox="1"/>
          <p:nvPr/>
        </p:nvSpPr>
        <p:spPr>
          <a:xfrm>
            <a:off x="1213757" y="5143500"/>
            <a:ext cx="165610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2E2E38"/>
                </a:solidFill>
                <a:latin typeface="georgia" panose="02040502050405020303" pitchFamily="18" charset="0"/>
              </a:rPr>
              <a:t>. </a:t>
            </a:r>
          </a:p>
          <a:p>
            <a:r>
              <a:rPr lang="en-US" sz="3200" dirty="0">
                <a:solidFill>
                  <a:srgbClr val="2E2E38"/>
                </a:solidFill>
                <a:latin typeface="georgia" panose="02040502050405020303" pitchFamily="18" charset="0"/>
              </a:rPr>
              <a:t>And the deadline? </a:t>
            </a:r>
          </a:p>
          <a:p>
            <a:r>
              <a:rPr lang="en-US" sz="3200" dirty="0">
                <a:solidFill>
                  <a:srgbClr val="2E2E38"/>
                </a:solidFill>
                <a:latin typeface="georgia" panose="02040502050405020303" pitchFamily="18" charset="0"/>
              </a:rPr>
              <a:t>May 2027. </a:t>
            </a:r>
          </a:p>
          <a:p>
            <a:r>
              <a:rPr lang="en-US" sz="3200" dirty="0">
                <a:solidFill>
                  <a:srgbClr val="2E2E38"/>
                </a:solidFill>
                <a:latin typeface="georgia" panose="02040502050405020303" pitchFamily="18" charset="0"/>
              </a:rPr>
              <a:t>That's 14 months away. </a:t>
            </a:r>
          </a:p>
          <a:p>
            <a:r>
              <a:rPr lang="en-US" sz="3200" dirty="0">
                <a:solidFill>
                  <a:srgbClr val="2E2E38"/>
                </a:solidFill>
                <a:latin typeface="georgia" panose="02040502050405020303" pitchFamily="18" charset="0"/>
              </a:rPr>
              <a:t>The fines?</a:t>
            </a:r>
          </a:p>
          <a:p>
            <a:r>
              <a:rPr lang="en-US" sz="3200" dirty="0">
                <a:solidFill>
                  <a:srgbClr val="2E2E38"/>
                </a:solidFill>
                <a:latin typeface="georgia" panose="02040502050405020303" pitchFamily="18" charset="0"/>
              </a:rPr>
              <a:t> Up to ₹250 crore per violation."</a:t>
            </a:r>
            <a:endParaRPr lang="en-IN" sz="3200" dirty="0">
              <a:solidFill>
                <a:srgbClr val="2E2E38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830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7391696A-49E5-6807-B29A-F0C05F3BF3C1}"/>
              </a:ext>
            </a:extLst>
          </p:cNvPr>
          <p:cNvSpPr/>
          <p:nvPr/>
        </p:nvSpPr>
        <p:spPr>
          <a:xfrm>
            <a:off x="304800" y="190501"/>
            <a:ext cx="17678400" cy="990600"/>
          </a:xfrm>
          <a:custGeom>
            <a:avLst/>
            <a:gdLst/>
            <a:ahLst/>
            <a:cxnLst/>
            <a:rect l="l" t="t" r="r" b="b"/>
            <a:pathLst>
              <a:path w="11589850" h="2119101">
                <a:moveTo>
                  <a:pt x="0" y="0"/>
                </a:moveTo>
                <a:lnTo>
                  <a:pt x="11589850" y="0"/>
                </a:lnTo>
                <a:lnTo>
                  <a:pt x="11589850" y="2119100"/>
                </a:lnTo>
                <a:lnTo>
                  <a:pt x="0" y="21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33F107-5C03-3FAE-0174-6967DAD6CF31}"/>
              </a:ext>
            </a:extLst>
          </p:cNvPr>
          <p:cNvSpPr txBox="1"/>
          <p:nvPr/>
        </p:nvSpPr>
        <p:spPr>
          <a:xfrm>
            <a:off x="-381000" y="178749"/>
            <a:ext cx="5029200" cy="975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485"/>
              </a:lnSpc>
            </a:pPr>
            <a:r>
              <a:rPr lang="en-US" sz="4800" dirty="0">
                <a:latin typeface="Anton"/>
                <a:ea typeface="Anton"/>
                <a:cs typeface="Anton"/>
                <a:sym typeface="Anton"/>
              </a:rPr>
              <a:t>SOURCE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B79D4D-3E4C-2E48-00D0-AC6E3CBC32E3}"/>
              </a:ext>
            </a:extLst>
          </p:cNvPr>
          <p:cNvSpPr txBox="1"/>
          <p:nvPr/>
        </p:nvSpPr>
        <p:spPr>
          <a:xfrm>
            <a:off x="685800" y="1409700"/>
            <a:ext cx="136978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1. Source  EY </a:t>
            </a:r>
            <a:r>
              <a:rPr lang="en-IN" dirty="0"/>
              <a:t>https://www.ey.com/en_in/insights/cybersecurity/india-s-data-privacy-shift-steering-the-dpdp-compliance-and-readiness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E1FE4-CDEF-73FB-09B0-44B3AB07F60B}"/>
              </a:ext>
            </a:extLst>
          </p:cNvPr>
          <p:cNvSpPr txBox="1"/>
          <p:nvPr/>
        </p:nvSpPr>
        <p:spPr>
          <a:xfrm>
            <a:off x="4290332" y="4820335"/>
            <a:ext cx="93317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https://www.ey.com/en_in/insights/cybersecurity/india-s-data-privacy-shift-steering-the-dpdp-compliance-and-readiness</a:t>
            </a:r>
          </a:p>
        </p:txBody>
      </p:sp>
    </p:spTree>
    <p:extLst>
      <p:ext uri="{BB962C8B-B14F-4D97-AF65-F5344CB8AC3E}">
        <p14:creationId xmlns:p14="http://schemas.microsoft.com/office/powerpoint/2010/main" val="2109375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E15DB-D783-63B3-A578-1CFA22908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>
            <a:extLst>
              <a:ext uri="{FF2B5EF4-FFF2-40B4-BE49-F238E27FC236}">
                <a16:creationId xmlns:a16="http://schemas.microsoft.com/office/drawing/2014/main" id="{9833AA9F-ADB1-264A-7C9B-A8AC63E12D9F}"/>
              </a:ext>
            </a:extLst>
          </p:cNvPr>
          <p:cNvSpPr/>
          <p:nvPr/>
        </p:nvSpPr>
        <p:spPr>
          <a:xfrm>
            <a:off x="304800" y="190501"/>
            <a:ext cx="17678400" cy="990600"/>
          </a:xfrm>
          <a:custGeom>
            <a:avLst/>
            <a:gdLst/>
            <a:ahLst/>
            <a:cxnLst/>
            <a:rect l="l" t="t" r="r" b="b"/>
            <a:pathLst>
              <a:path w="11589850" h="2119101">
                <a:moveTo>
                  <a:pt x="0" y="0"/>
                </a:moveTo>
                <a:lnTo>
                  <a:pt x="11589850" y="0"/>
                </a:lnTo>
                <a:lnTo>
                  <a:pt x="11589850" y="2119100"/>
                </a:lnTo>
                <a:lnTo>
                  <a:pt x="0" y="21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905634-D781-E12F-9905-8134F60FF4FF}"/>
              </a:ext>
            </a:extLst>
          </p:cNvPr>
          <p:cNvSpPr txBox="1"/>
          <p:nvPr/>
        </p:nvSpPr>
        <p:spPr>
          <a:xfrm>
            <a:off x="-381000" y="178749"/>
            <a:ext cx="9144000" cy="975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485"/>
              </a:lnSpc>
            </a:pPr>
            <a:r>
              <a:rPr lang="en-US" sz="4800" dirty="0">
                <a:latin typeface="Anton"/>
                <a:ea typeface="Anton"/>
                <a:cs typeface="Anton"/>
                <a:sym typeface="Anton"/>
              </a:rPr>
              <a:t>Problem &amp; Consequence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603070F7-D2CF-2D2D-7F77-F12DD31D39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6548853"/>
              </p:ext>
            </p:extLst>
          </p:nvPr>
        </p:nvGraphicFramePr>
        <p:xfrm>
          <a:off x="762000" y="1485900"/>
          <a:ext cx="9448800" cy="4698128"/>
        </p:xfrm>
        <a:graphic>
          <a:graphicData uri="http://schemas.openxmlformats.org/drawingml/2006/table">
            <a:tbl>
              <a:tblPr/>
              <a:tblGrid>
                <a:gridCol w="1889760">
                  <a:extLst>
                    <a:ext uri="{9D8B030D-6E8A-4147-A177-3AD203B41FA5}">
                      <a16:colId xmlns:a16="http://schemas.microsoft.com/office/drawing/2014/main" val="361314637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370296718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252201334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3092750087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555882729"/>
                    </a:ext>
                  </a:extLst>
                </a:gridCol>
              </a:tblGrid>
              <a:tr h="56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Company</a:t>
                      </a:r>
                    </a:p>
                  </a:txBody>
                  <a:tcPr marL="31531" marR="31531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Regulation</a:t>
                      </a:r>
                    </a:p>
                  </a:txBody>
                  <a:tcPr marL="31531" marR="31531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Reporting Failure Type</a:t>
                      </a:r>
                    </a:p>
                  </a:txBody>
                  <a:tcPr marL="31531" marR="31531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What They Failed To Report</a:t>
                      </a:r>
                    </a:p>
                  </a:txBody>
                  <a:tcPr marL="31531" marR="31531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Fine</a:t>
                      </a:r>
                    </a:p>
                  </a:txBody>
                  <a:tcPr marL="31531" marR="31531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699392"/>
                  </a:ext>
                </a:extLst>
              </a:tr>
              <a:tr h="1046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Google</a:t>
                      </a:r>
                    </a:p>
                  </a:txBody>
                  <a:tcPr marL="31531" marR="31531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GDPR</a:t>
                      </a:r>
                    </a:p>
                  </a:txBody>
                  <a:tcPr marL="31531" marR="31531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Lack of transparency</a:t>
                      </a:r>
                    </a:p>
                  </a:txBody>
                  <a:tcPr marL="31531" marR="31531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Did not clearly disclose how user data was collected &amp; used</a:t>
                      </a:r>
                    </a:p>
                  </a:txBody>
                  <a:tcPr marL="31531" marR="31531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€50M (</a:t>
                      </a:r>
                      <a:r>
                        <a:rPr lang="en-US" sz="2000">
                          <a:hlinkClick r:id="rId3" tooltip="Data mismanagement fines: 10 companies penalised for user data mishandling | Times of India"/>
                        </a:rPr>
                        <a:t>The Times of India</a:t>
                      </a:r>
                      <a:r>
                        <a:rPr lang="en-US" sz="2000"/>
                        <a:t>)</a:t>
                      </a:r>
                    </a:p>
                  </a:txBody>
                  <a:tcPr marL="31531" marR="31531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510102"/>
                  </a:ext>
                </a:extLst>
              </a:tr>
              <a:tr h="1046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WhatsApp</a:t>
                      </a:r>
                    </a:p>
                  </a:txBody>
                  <a:tcPr marL="31531" marR="31531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GDPR</a:t>
                      </a:r>
                    </a:p>
                  </a:txBody>
                  <a:tcPr marL="31531" marR="31531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Incomplete disclosure</a:t>
                      </a:r>
                    </a:p>
                  </a:txBody>
                  <a:tcPr marL="31531" marR="31531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Failed to explain data sharing with parent company (Meta)</a:t>
                      </a:r>
                    </a:p>
                  </a:txBody>
                  <a:tcPr marL="31531" marR="31531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€225M (</a:t>
                      </a:r>
                      <a:r>
                        <a:rPr lang="en-IN" sz="2000">
                          <a:hlinkClick r:id="rId4" tooltip="The Impact of Non-Compliance: Case Studies and Lessons Learned"/>
                        </a:rPr>
                        <a:t>compliancehub.wiki</a:t>
                      </a:r>
                      <a:r>
                        <a:rPr lang="en-IN" sz="2000"/>
                        <a:t>)</a:t>
                      </a:r>
                    </a:p>
                  </a:txBody>
                  <a:tcPr marL="31531" marR="31531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778113"/>
                  </a:ext>
                </a:extLst>
              </a:tr>
              <a:tr h="1046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Amazon</a:t>
                      </a:r>
                    </a:p>
                  </a:txBody>
                  <a:tcPr marL="31531" marR="31531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GDPR</a:t>
                      </a:r>
                    </a:p>
                  </a:txBody>
                  <a:tcPr marL="31531" marR="31531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Improper consent reporting</a:t>
                      </a:r>
                    </a:p>
                  </a:txBody>
                  <a:tcPr marL="31531" marR="31531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Did not properly inform users about ad-targeting data usage</a:t>
                      </a:r>
                    </a:p>
                  </a:txBody>
                  <a:tcPr marL="31531" marR="31531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€746M (</a:t>
                      </a:r>
                      <a:r>
                        <a:rPr lang="en-IN" sz="2000" dirty="0">
                          <a:hlinkClick r:id="rId5" tooltip="The biggest data breach fines, penalties, and settlements so far | CSO Online"/>
                        </a:rPr>
                        <a:t>CSO Online</a:t>
                      </a:r>
                      <a:r>
                        <a:rPr lang="en-IN" sz="2000" dirty="0"/>
                        <a:t>)</a:t>
                      </a:r>
                    </a:p>
                  </a:txBody>
                  <a:tcPr marL="31531" marR="31531" marT="15766" marB="15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2879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5F81057-173D-D20F-1561-3EA9F99A397B}"/>
              </a:ext>
            </a:extLst>
          </p:cNvPr>
          <p:cNvSpPr txBox="1"/>
          <p:nvPr/>
        </p:nvSpPr>
        <p:spPr>
          <a:xfrm>
            <a:off x="10967357" y="167380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🚨 1. Scale of Regulatory Fines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Global regulatory fines reached </a:t>
            </a:r>
            <a:r>
              <a:rPr lang="en-US" b="1" dirty="0"/>
              <a:t>$19.3 billion in 2024</a:t>
            </a:r>
            <a:br>
              <a:rPr lang="en-US" dirty="0"/>
            </a:br>
            <a:r>
              <a:rPr lang="en-US" b="1" dirty="0"/>
              <a:t>Source:</a:t>
            </a:r>
            <a:r>
              <a:rPr lang="en-US" dirty="0"/>
              <a:t> FinTech Global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Financial institutions have paid over </a:t>
            </a:r>
            <a:r>
              <a:rPr lang="en-US" b="1" dirty="0"/>
              <a:t>$321 billion in fines since 2008</a:t>
            </a:r>
            <a:br>
              <a:rPr lang="en-US" dirty="0"/>
            </a:br>
            <a:r>
              <a:rPr lang="en-US" b="1" dirty="0"/>
              <a:t>Source:</a:t>
            </a:r>
            <a:r>
              <a:rPr lang="en-US" dirty="0"/>
              <a:t> </a:t>
            </a:r>
            <a:r>
              <a:rPr lang="en-US" dirty="0" err="1"/>
              <a:t>Gitnux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E4BB8F-2940-9A6E-B13D-F590F9B3740E}"/>
              </a:ext>
            </a:extLst>
          </p:cNvPr>
          <p:cNvSpPr txBox="1"/>
          <p:nvPr/>
        </p:nvSpPr>
        <p:spPr>
          <a:xfrm>
            <a:off x="10972800" y="463790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significant share of penalties stem from </a:t>
            </a:r>
            <a:r>
              <a:rPr lang="en-US" b="1" dirty="0"/>
              <a:t>data, reporting, and governance failures</a:t>
            </a:r>
            <a:br>
              <a:rPr lang="en-US" dirty="0"/>
            </a:br>
            <a:r>
              <a:rPr lang="en-US" b="1" dirty="0"/>
              <a:t>Source:</a:t>
            </a:r>
            <a:r>
              <a:rPr lang="en-US" dirty="0"/>
              <a:t> FinTech Global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Record-keeping and reporting failures alone caused </a:t>
            </a:r>
            <a:r>
              <a:rPr lang="en-US" b="1" dirty="0"/>
              <a:t>$200M+ in fines annually in recent years</a:t>
            </a:r>
            <a:br>
              <a:rPr lang="en-US" dirty="0"/>
            </a:br>
            <a:r>
              <a:rPr lang="en-US" b="1" dirty="0"/>
              <a:t>Source:</a:t>
            </a:r>
            <a:r>
              <a:rPr lang="en-US" dirty="0"/>
              <a:t> FinTech Global</a:t>
            </a:r>
          </a:p>
          <a:p>
            <a:pPr>
              <a:buNone/>
            </a:pPr>
            <a:r>
              <a:rPr lang="en-US" dirty="0"/>
              <a:t>👉 Use: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69BFEE-E680-A45B-906C-9FD5A4315191}"/>
              </a:ext>
            </a:extLst>
          </p:cNvPr>
          <p:cNvSpPr txBox="1"/>
          <p:nvPr/>
        </p:nvSpPr>
        <p:spPr>
          <a:xfrm>
            <a:off x="2209800" y="750570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🧠 3. Regulatory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61% of organizations</a:t>
            </a:r>
            <a:r>
              <a:rPr lang="en-US" dirty="0"/>
              <a:t> say keeping up with regulatory changes is their biggest challenge</a:t>
            </a:r>
            <a:br>
              <a:rPr lang="en-US" dirty="0"/>
            </a:br>
            <a:r>
              <a:rPr lang="en-US" b="1" dirty="0"/>
              <a:t>Source:</a:t>
            </a:r>
            <a:r>
              <a:rPr lang="en-US" dirty="0"/>
              <a:t> Thomson Reuters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 enterprises deal with </a:t>
            </a:r>
            <a:r>
              <a:rPr lang="en-US" b="1" dirty="0"/>
              <a:t>hundreds of regulatory updates daily</a:t>
            </a:r>
            <a:br>
              <a:rPr lang="en-US" dirty="0"/>
            </a:br>
            <a:r>
              <a:rPr lang="en-US" b="1" dirty="0"/>
              <a:t>Source:</a:t>
            </a:r>
            <a:r>
              <a:rPr lang="en-US" dirty="0"/>
              <a:t> Deloitte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71C865-1D99-611D-0EC5-3504F3E7A318}"/>
              </a:ext>
            </a:extLst>
          </p:cNvPr>
          <p:cNvSpPr txBox="1"/>
          <p:nvPr/>
        </p:nvSpPr>
        <p:spPr>
          <a:xfrm>
            <a:off x="10972800" y="803910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💸 6. Cost of Non-Compliance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Cost of non-compliance is </a:t>
            </a:r>
            <a:r>
              <a:rPr lang="en-US" b="1" dirty="0"/>
              <a:t>2.7x higher</a:t>
            </a:r>
            <a:r>
              <a:rPr lang="en-US" dirty="0"/>
              <a:t> than the cost of compliance</a:t>
            </a:r>
            <a:br>
              <a:rPr lang="en-US" dirty="0"/>
            </a:br>
            <a:r>
              <a:rPr lang="en-US" b="1" dirty="0"/>
              <a:t>Source:</a:t>
            </a:r>
            <a:r>
              <a:rPr lang="en-US" dirty="0"/>
              <a:t> </a:t>
            </a:r>
            <a:r>
              <a:rPr lang="en-US" dirty="0" err="1"/>
              <a:t>Ponemon</a:t>
            </a:r>
            <a:r>
              <a:rPr lang="en-US" dirty="0"/>
              <a:t> Institute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Average cost of a data breach: </a:t>
            </a:r>
            <a:r>
              <a:rPr lang="en-US" b="1" dirty="0"/>
              <a:t>$4.45 million</a:t>
            </a:r>
            <a:br>
              <a:rPr lang="en-US" dirty="0"/>
            </a:br>
            <a:r>
              <a:rPr lang="en-US" b="1" dirty="0"/>
              <a:t>Source:</a:t>
            </a:r>
            <a:r>
              <a:rPr lang="en-US" dirty="0"/>
              <a:t> IBM</a:t>
            </a:r>
          </a:p>
        </p:txBody>
      </p:sp>
    </p:spTree>
    <p:extLst>
      <p:ext uri="{BB962C8B-B14F-4D97-AF65-F5344CB8AC3E}">
        <p14:creationId xmlns:p14="http://schemas.microsoft.com/office/powerpoint/2010/main" val="606590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B8722-DAD6-B74E-A06B-673AAD29F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>
            <a:extLst>
              <a:ext uri="{FF2B5EF4-FFF2-40B4-BE49-F238E27FC236}">
                <a16:creationId xmlns:a16="http://schemas.microsoft.com/office/drawing/2014/main" id="{AA8C3D56-DD2C-99ED-9D11-813DDCC44C8E}"/>
              </a:ext>
            </a:extLst>
          </p:cNvPr>
          <p:cNvSpPr/>
          <p:nvPr/>
        </p:nvSpPr>
        <p:spPr>
          <a:xfrm>
            <a:off x="304800" y="190501"/>
            <a:ext cx="17678400" cy="990600"/>
          </a:xfrm>
          <a:custGeom>
            <a:avLst/>
            <a:gdLst/>
            <a:ahLst/>
            <a:cxnLst/>
            <a:rect l="l" t="t" r="r" b="b"/>
            <a:pathLst>
              <a:path w="11589850" h="2119101">
                <a:moveTo>
                  <a:pt x="0" y="0"/>
                </a:moveTo>
                <a:lnTo>
                  <a:pt x="11589850" y="0"/>
                </a:lnTo>
                <a:lnTo>
                  <a:pt x="11589850" y="2119100"/>
                </a:lnTo>
                <a:lnTo>
                  <a:pt x="0" y="21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BF2270-2F4B-514F-EB90-1BFA18BB26A2}"/>
              </a:ext>
            </a:extLst>
          </p:cNvPr>
          <p:cNvSpPr txBox="1"/>
          <p:nvPr/>
        </p:nvSpPr>
        <p:spPr>
          <a:xfrm>
            <a:off x="-381000" y="178749"/>
            <a:ext cx="9144000" cy="975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485"/>
              </a:lnSpc>
            </a:pPr>
            <a:r>
              <a:rPr lang="en-US" sz="4800" dirty="0">
                <a:latin typeface="Anton"/>
                <a:ea typeface="Anton"/>
                <a:cs typeface="Anton"/>
                <a:sym typeface="Anton"/>
              </a:rPr>
              <a:t>Solution</a:t>
            </a:r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18994218-7F21-4F9E-F5F4-332B0637C829}"/>
              </a:ext>
            </a:extLst>
          </p:cNvPr>
          <p:cNvSpPr/>
          <p:nvPr/>
        </p:nvSpPr>
        <p:spPr>
          <a:xfrm>
            <a:off x="6783898" y="1843389"/>
            <a:ext cx="10855512" cy="6276460"/>
          </a:xfrm>
          <a:custGeom>
            <a:avLst/>
            <a:gdLst/>
            <a:ahLst/>
            <a:cxnLst/>
            <a:rect l="l" t="t" r="r" b="b"/>
            <a:pathLst>
              <a:path w="10855512" h="6276460">
                <a:moveTo>
                  <a:pt x="0" y="0"/>
                </a:moveTo>
                <a:lnTo>
                  <a:pt x="10855512" y="0"/>
                </a:lnTo>
                <a:lnTo>
                  <a:pt x="10855512" y="6276460"/>
                </a:lnTo>
                <a:lnTo>
                  <a:pt x="0" y="62764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C06175-23E9-FB60-F656-8F93A76C1599}"/>
              </a:ext>
            </a:extLst>
          </p:cNvPr>
          <p:cNvSpPr txBox="1"/>
          <p:nvPr/>
        </p:nvSpPr>
        <p:spPr>
          <a:xfrm>
            <a:off x="1371600" y="1548034"/>
            <a:ext cx="93317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system that </a:t>
            </a:r>
            <a:r>
              <a:rPr lang="en-US" b="1" dirty="0"/>
              <a:t>understands regulations → maps them to company processes → detects reporting gaps → fixes them proactively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0DD26E-64F0-085D-D965-12C64421D159}"/>
              </a:ext>
            </a:extLst>
          </p:cNvPr>
          <p:cNvSpPr txBox="1"/>
          <p:nvPr/>
        </p:nvSpPr>
        <p:spPr>
          <a:xfrm>
            <a:off x="1393371" y="3239467"/>
            <a:ext cx="93317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Regulation Intelligence Layer</a:t>
            </a:r>
          </a:p>
          <a:p>
            <a:r>
              <a:rPr lang="en-US" dirty="0"/>
              <a:t>Ingests:</a:t>
            </a:r>
          </a:p>
          <a:p>
            <a:pPr lvl="1"/>
            <a:r>
              <a:rPr lang="en-US" dirty="0"/>
              <a:t>GDPR, SEC, AML, SOX rules</a:t>
            </a:r>
          </a:p>
          <a:p>
            <a:r>
              <a:rPr lang="en-US" dirty="0"/>
              <a:t>Converts them into:</a:t>
            </a:r>
          </a:p>
          <a:p>
            <a:pPr lvl="1"/>
            <a:r>
              <a:rPr lang="en-US" dirty="0"/>
              <a:t>structured, machine-readable obligations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874BFC-9C1C-AC10-DF57-984A5A7F2BD7}"/>
              </a:ext>
            </a:extLst>
          </p:cNvPr>
          <p:cNvSpPr txBox="1"/>
          <p:nvPr/>
        </p:nvSpPr>
        <p:spPr>
          <a:xfrm>
            <a:off x="7315200" y="2856653"/>
            <a:ext cx="933177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Policy &amp; Process Mapping Layer</a:t>
            </a:r>
          </a:p>
          <a:p>
            <a:endParaRPr lang="en-IN"/>
          </a:p>
          <a:p>
            <a:r>
              <a:rPr lang="en-US"/>
              <a:t>Takes:</a:t>
            </a:r>
          </a:p>
          <a:p>
            <a:pPr lvl="1"/>
            <a:r>
              <a:rPr lang="en-US"/>
              <a:t>company policies</a:t>
            </a:r>
          </a:p>
          <a:p>
            <a:pPr lvl="1"/>
            <a:r>
              <a:rPr lang="en-US"/>
              <a:t>workflows (financial close, reporting, etc.)</a:t>
            </a:r>
          </a:p>
          <a:p>
            <a:r>
              <a:rPr lang="en-US"/>
              <a:t>Maps:</a:t>
            </a:r>
          </a:p>
          <a:p>
            <a:pPr lvl="1"/>
            <a:r>
              <a:rPr lang="en-US"/>
              <a:t>“Which regulation applies where?”</a:t>
            </a:r>
          </a:p>
          <a:p>
            <a:r>
              <a:rPr lang="en-US"/>
              <a:t>👉 Output:</a:t>
            </a:r>
          </a:p>
          <a:p>
            <a:r>
              <a:rPr lang="en-US"/>
              <a:t>“Your current policy does NOT meet GDPR Article 13 requirements”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32E646-195E-FF54-6DF8-1FA09F8EA79E}"/>
              </a:ext>
            </a:extLst>
          </p:cNvPr>
          <p:cNvSpPr txBox="1"/>
          <p:nvPr/>
        </p:nvSpPr>
        <p:spPr>
          <a:xfrm>
            <a:off x="1837587" y="4423915"/>
            <a:ext cx="93317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disclosures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delayed reporting risks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incorrect data flows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reporting triggers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838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FE9DA-642C-2821-DB1C-6419F69CE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>
            <a:extLst>
              <a:ext uri="{FF2B5EF4-FFF2-40B4-BE49-F238E27FC236}">
                <a16:creationId xmlns:a16="http://schemas.microsoft.com/office/drawing/2014/main" id="{AAC198E6-BADF-8964-36AE-4222A6AD71ED}"/>
              </a:ext>
            </a:extLst>
          </p:cNvPr>
          <p:cNvSpPr/>
          <p:nvPr/>
        </p:nvSpPr>
        <p:spPr>
          <a:xfrm>
            <a:off x="304800" y="190501"/>
            <a:ext cx="17678400" cy="990600"/>
          </a:xfrm>
          <a:custGeom>
            <a:avLst/>
            <a:gdLst/>
            <a:ahLst/>
            <a:cxnLst/>
            <a:rect l="l" t="t" r="r" b="b"/>
            <a:pathLst>
              <a:path w="11589850" h="2119101">
                <a:moveTo>
                  <a:pt x="0" y="0"/>
                </a:moveTo>
                <a:lnTo>
                  <a:pt x="11589850" y="0"/>
                </a:lnTo>
                <a:lnTo>
                  <a:pt x="11589850" y="2119100"/>
                </a:lnTo>
                <a:lnTo>
                  <a:pt x="0" y="21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1FFA8A-8CAF-D260-BA49-B387710F9F1D}"/>
              </a:ext>
            </a:extLst>
          </p:cNvPr>
          <p:cNvSpPr txBox="1"/>
          <p:nvPr/>
        </p:nvSpPr>
        <p:spPr>
          <a:xfrm>
            <a:off x="-381000" y="178749"/>
            <a:ext cx="9144000" cy="975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485"/>
              </a:lnSpc>
            </a:pPr>
            <a:r>
              <a:rPr lang="en-US" sz="4800" dirty="0">
                <a:latin typeface="Anton"/>
                <a:ea typeface="Anton"/>
                <a:cs typeface="Anton"/>
                <a:sym typeface="Anton"/>
              </a:rPr>
              <a:t>Impact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8F7890-4C98-8AF4-180E-A767F2EA8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847" y="3421786"/>
            <a:ext cx="15438305" cy="344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346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048EA-9E72-EDAD-4F97-61476BA7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>
            <a:extLst>
              <a:ext uri="{FF2B5EF4-FFF2-40B4-BE49-F238E27FC236}">
                <a16:creationId xmlns:a16="http://schemas.microsoft.com/office/drawing/2014/main" id="{F2A71282-5119-FC8D-AF79-84B62060F837}"/>
              </a:ext>
            </a:extLst>
          </p:cNvPr>
          <p:cNvSpPr/>
          <p:nvPr/>
        </p:nvSpPr>
        <p:spPr>
          <a:xfrm>
            <a:off x="304800" y="190501"/>
            <a:ext cx="17678400" cy="990600"/>
          </a:xfrm>
          <a:custGeom>
            <a:avLst/>
            <a:gdLst/>
            <a:ahLst/>
            <a:cxnLst/>
            <a:rect l="l" t="t" r="r" b="b"/>
            <a:pathLst>
              <a:path w="11589850" h="2119101">
                <a:moveTo>
                  <a:pt x="0" y="0"/>
                </a:moveTo>
                <a:lnTo>
                  <a:pt x="11589850" y="0"/>
                </a:lnTo>
                <a:lnTo>
                  <a:pt x="11589850" y="2119100"/>
                </a:lnTo>
                <a:lnTo>
                  <a:pt x="0" y="21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A4B64-2DD0-06E6-2758-960E6BB2E325}"/>
              </a:ext>
            </a:extLst>
          </p:cNvPr>
          <p:cNvSpPr txBox="1"/>
          <p:nvPr/>
        </p:nvSpPr>
        <p:spPr>
          <a:xfrm>
            <a:off x="-381000" y="178749"/>
            <a:ext cx="12192000" cy="975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485"/>
              </a:lnSpc>
            </a:pPr>
            <a:r>
              <a:rPr lang="en-US" sz="4800" dirty="0">
                <a:latin typeface="Anton"/>
                <a:ea typeface="Anton"/>
                <a:cs typeface="Anton"/>
                <a:sym typeface="Anton"/>
              </a:rPr>
              <a:t>Project Demo Flow – User Perspective </a:t>
            </a:r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89F7887D-3B7A-BDE2-C3EC-CBA7196AA7DA}"/>
              </a:ext>
            </a:extLst>
          </p:cNvPr>
          <p:cNvGrpSpPr/>
          <p:nvPr/>
        </p:nvGrpSpPr>
        <p:grpSpPr>
          <a:xfrm>
            <a:off x="11582400" y="2573534"/>
            <a:ext cx="3086100" cy="1198366"/>
            <a:chOff x="0" y="0"/>
            <a:chExt cx="812800" cy="315619"/>
          </a:xfrm>
        </p:grpSpPr>
        <p:sp>
          <p:nvSpPr>
            <p:cNvPr id="8" name="Freeform 13">
              <a:extLst>
                <a:ext uri="{FF2B5EF4-FFF2-40B4-BE49-F238E27FC236}">
                  <a16:creationId xmlns:a16="http://schemas.microsoft.com/office/drawing/2014/main" id="{113FF9E0-F238-FF1E-C7A5-F33E036B1C5C}"/>
                </a:ext>
              </a:extLst>
            </p:cNvPr>
            <p:cNvSpPr/>
            <p:nvPr/>
          </p:nvSpPr>
          <p:spPr>
            <a:xfrm>
              <a:off x="0" y="0"/>
              <a:ext cx="812800" cy="315619"/>
            </a:xfrm>
            <a:custGeom>
              <a:avLst/>
              <a:gdLst/>
              <a:ahLst/>
              <a:cxnLst/>
              <a:rect l="l" t="t" r="r" b="b"/>
              <a:pathLst>
                <a:path w="812800" h="315619">
                  <a:moveTo>
                    <a:pt x="0" y="0"/>
                  </a:moveTo>
                  <a:lnTo>
                    <a:pt x="812800" y="0"/>
                  </a:lnTo>
                  <a:lnTo>
                    <a:pt x="812800" y="315619"/>
                  </a:lnTo>
                  <a:lnTo>
                    <a:pt x="0" y="315619"/>
                  </a:lnTo>
                  <a:close/>
                </a:path>
              </a:pathLst>
            </a:custGeom>
            <a:gradFill rotWithShape="1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14">
              <a:extLst>
                <a:ext uri="{FF2B5EF4-FFF2-40B4-BE49-F238E27FC236}">
                  <a16:creationId xmlns:a16="http://schemas.microsoft.com/office/drawing/2014/main" id="{148E2E5E-214E-F1E5-E619-2FE6FA4DEB5D}"/>
                </a:ext>
              </a:extLst>
            </p:cNvPr>
            <p:cNvSpPr txBox="1"/>
            <p:nvPr/>
          </p:nvSpPr>
          <p:spPr>
            <a:xfrm>
              <a:off x="0" y="-38100"/>
              <a:ext cx="812800" cy="3537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4479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E1B87-4A4D-ABE8-3FD8-334DDF44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>
            <a:extLst>
              <a:ext uri="{FF2B5EF4-FFF2-40B4-BE49-F238E27FC236}">
                <a16:creationId xmlns:a16="http://schemas.microsoft.com/office/drawing/2014/main" id="{1CB3EA2C-AEB6-09DE-57A9-A437DFB6C1B1}"/>
              </a:ext>
            </a:extLst>
          </p:cNvPr>
          <p:cNvSpPr/>
          <p:nvPr/>
        </p:nvSpPr>
        <p:spPr>
          <a:xfrm>
            <a:off x="304800" y="190501"/>
            <a:ext cx="17678400" cy="990600"/>
          </a:xfrm>
          <a:custGeom>
            <a:avLst/>
            <a:gdLst/>
            <a:ahLst/>
            <a:cxnLst/>
            <a:rect l="l" t="t" r="r" b="b"/>
            <a:pathLst>
              <a:path w="11589850" h="2119101">
                <a:moveTo>
                  <a:pt x="0" y="0"/>
                </a:moveTo>
                <a:lnTo>
                  <a:pt x="11589850" y="0"/>
                </a:lnTo>
                <a:lnTo>
                  <a:pt x="11589850" y="2119100"/>
                </a:lnTo>
                <a:lnTo>
                  <a:pt x="0" y="21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98E695-8FDC-9741-529B-9C2A9686E5F4}"/>
              </a:ext>
            </a:extLst>
          </p:cNvPr>
          <p:cNvSpPr txBox="1"/>
          <p:nvPr/>
        </p:nvSpPr>
        <p:spPr>
          <a:xfrm>
            <a:off x="-381000" y="178749"/>
            <a:ext cx="11582400" cy="975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485"/>
              </a:lnSpc>
            </a:pPr>
            <a:r>
              <a:rPr lang="en-US" sz="4800" dirty="0">
                <a:latin typeface="Anton"/>
                <a:ea typeface="Anton"/>
                <a:cs typeface="Anton"/>
                <a:sym typeface="Anton"/>
              </a:rPr>
              <a:t>Model at a Glance – Tech Perspective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9547A2-8B87-B55D-5C94-00FA05D3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76" b="19127"/>
          <a:stretch>
            <a:fillRect/>
          </a:stretch>
        </p:blipFill>
        <p:spPr>
          <a:xfrm>
            <a:off x="1143001" y="1485900"/>
            <a:ext cx="16840200" cy="4800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Freeform 7">
            <a:extLst>
              <a:ext uri="{FF2B5EF4-FFF2-40B4-BE49-F238E27FC236}">
                <a16:creationId xmlns:a16="http://schemas.microsoft.com/office/drawing/2014/main" id="{2D6AF872-BE86-2B9B-AED8-484E4892DAA0}"/>
              </a:ext>
            </a:extLst>
          </p:cNvPr>
          <p:cNvSpPr/>
          <p:nvPr/>
        </p:nvSpPr>
        <p:spPr>
          <a:xfrm rot="16200000">
            <a:off x="-1763485" y="3532413"/>
            <a:ext cx="4800601" cy="707573"/>
          </a:xfrm>
          <a:custGeom>
            <a:avLst/>
            <a:gdLst/>
            <a:ahLst/>
            <a:cxnLst/>
            <a:rect l="l" t="t" r="r" b="b"/>
            <a:pathLst>
              <a:path w="812800" h="816793">
                <a:moveTo>
                  <a:pt x="0" y="0"/>
                </a:moveTo>
                <a:lnTo>
                  <a:pt x="812800" y="0"/>
                </a:lnTo>
                <a:lnTo>
                  <a:pt x="812800" y="816793"/>
                </a:lnTo>
                <a:lnTo>
                  <a:pt x="0" y="816793"/>
                </a:lnTo>
                <a:close/>
              </a:path>
            </a:pathLst>
          </a:custGeom>
          <a:gradFill rotWithShape="1">
            <a:gsLst>
              <a:gs pos="0">
                <a:srgbClr val="365E93">
                  <a:alpha val="34000"/>
                </a:srgbClr>
              </a:gs>
              <a:gs pos="100000">
                <a:srgbClr val="AF2BA5">
                  <a:alpha val="34000"/>
                </a:srgbClr>
              </a:gs>
            </a:gsLst>
            <a:lin ang="0"/>
          </a:gradFill>
        </p:spPr>
        <p:txBody>
          <a:bodyPr/>
          <a:lstStyle/>
          <a:p>
            <a:pPr algn="ctr"/>
            <a:r>
              <a:rPr lang="en-US" sz="3600" b="1" dirty="0"/>
              <a:t> FLOW</a:t>
            </a:r>
            <a:endParaRPr lang="en-IN" sz="3600" b="1" dirty="0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9F680F6A-33E8-AF25-D70C-72A89F0670BF}"/>
              </a:ext>
            </a:extLst>
          </p:cNvPr>
          <p:cNvSpPr txBox="1"/>
          <p:nvPr/>
        </p:nvSpPr>
        <p:spPr>
          <a:xfrm>
            <a:off x="11582400" y="3627239"/>
            <a:ext cx="3086100" cy="324592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73094B-7375-81E8-4CE1-53FA33127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000" y="6286500"/>
            <a:ext cx="6593585" cy="348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92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897FA-9852-4532-9251-2138B39DE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>
            <a:extLst>
              <a:ext uri="{FF2B5EF4-FFF2-40B4-BE49-F238E27FC236}">
                <a16:creationId xmlns:a16="http://schemas.microsoft.com/office/drawing/2014/main" id="{29ADFE85-EEAD-4CBF-75A2-A453AE1455B7}"/>
              </a:ext>
            </a:extLst>
          </p:cNvPr>
          <p:cNvSpPr/>
          <p:nvPr/>
        </p:nvSpPr>
        <p:spPr>
          <a:xfrm>
            <a:off x="304800" y="190501"/>
            <a:ext cx="17678400" cy="990600"/>
          </a:xfrm>
          <a:custGeom>
            <a:avLst/>
            <a:gdLst/>
            <a:ahLst/>
            <a:cxnLst/>
            <a:rect l="l" t="t" r="r" b="b"/>
            <a:pathLst>
              <a:path w="11589850" h="2119101">
                <a:moveTo>
                  <a:pt x="0" y="0"/>
                </a:moveTo>
                <a:lnTo>
                  <a:pt x="11589850" y="0"/>
                </a:lnTo>
                <a:lnTo>
                  <a:pt x="11589850" y="2119100"/>
                </a:lnTo>
                <a:lnTo>
                  <a:pt x="0" y="21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BBAA6E-28B1-C7AF-F623-142ED0AAB375}"/>
              </a:ext>
            </a:extLst>
          </p:cNvPr>
          <p:cNvSpPr txBox="1"/>
          <p:nvPr/>
        </p:nvSpPr>
        <p:spPr>
          <a:xfrm>
            <a:off x="-381000" y="178749"/>
            <a:ext cx="9144000" cy="975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485"/>
              </a:lnSpc>
            </a:pPr>
            <a:r>
              <a:rPr lang="en-US" sz="4800" dirty="0">
                <a:latin typeface="Anton"/>
                <a:ea typeface="Anton"/>
                <a:cs typeface="Anton"/>
                <a:sym typeface="Anton"/>
              </a:rPr>
              <a:t>Architecture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8D5DDD8-EE93-9B3C-5AF5-7B5646298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56" y="1409700"/>
            <a:ext cx="7282543" cy="878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76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479</Words>
  <Application>Microsoft Office PowerPoint</Application>
  <PresentationFormat>Custom</PresentationFormat>
  <Paragraphs>79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Anton</vt:lpstr>
      <vt:lpstr>Cambria Math</vt:lpstr>
      <vt:lpstr>Inter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Blue Gradient Modern Metaverse Futuristic Presentation</dc:title>
  <dc:creator>HP</dc:creator>
  <cp:lastModifiedBy>Harreet  Kaur</cp:lastModifiedBy>
  <cp:revision>5</cp:revision>
  <dcterms:created xsi:type="dcterms:W3CDTF">2006-08-16T00:00:00Z</dcterms:created>
  <dcterms:modified xsi:type="dcterms:W3CDTF">2026-03-20T16:17:29Z</dcterms:modified>
  <dc:identifier>DAHEaiQwJTs</dc:identifier>
</cp:coreProperties>
</file>